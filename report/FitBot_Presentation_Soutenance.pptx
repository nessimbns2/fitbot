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8cd752637d438c" /><Relationship Type="http://schemas.openxmlformats.org/officeDocument/2006/relationships/extended-properties" Target="/docProps/app.xml" Id="R700e1e4769234af2" /><Relationship Type="http://schemas.openxmlformats.org/officeDocument/2006/relationships/officeDocument" Target="/ppt/presentation.xml" Id="Rce0bcecf2ea94d99" /></Relationships>
</file>

<file path=ppt/presentation.xml><?xml version="1.0" encoding="utf-8"?>
<p:presentation xmlns:p="http://schemas.openxmlformats.org/presentationml/2006/main">
  <p:sldMasterIdLst>
    <p:sldMasterId xmlns:r="http://schemas.openxmlformats.org/officeDocument/2006/relationships" id="2147483648" r:id="R817dfc585e044062"/>
  </p:sldMasterIdLst>
  <p:notesMasterIdLst>
    <p:notesMasterId xmlns:r="http://schemas.openxmlformats.org/officeDocument/2006/relationships" r:id="R0fd8a66680eb44ed"/>
  </p:notesMasterIdLst>
  <p:sldIdLst>
    <p:sldId xmlns:r="http://schemas.openxmlformats.org/officeDocument/2006/relationships" id="256" r:id="R77727a9acc57464a"/>
    <p:sldId xmlns:r="http://schemas.openxmlformats.org/officeDocument/2006/relationships" id="257" r:id="R95cbbe21b0514fc6"/>
    <p:sldId xmlns:r="http://schemas.openxmlformats.org/officeDocument/2006/relationships" id="258" r:id="R3b1b486658fd4730"/>
    <p:sldId xmlns:r="http://schemas.openxmlformats.org/officeDocument/2006/relationships" id="259" r:id="R18fd266318e445b2"/>
    <p:sldId xmlns:r="http://schemas.openxmlformats.org/officeDocument/2006/relationships" id="260" r:id="Rb7622b0fe63d4409"/>
    <p:sldId xmlns:r="http://schemas.openxmlformats.org/officeDocument/2006/relationships" id="261" r:id="R602743f54e2347bf"/>
    <p:sldId xmlns:r="http://schemas.openxmlformats.org/officeDocument/2006/relationships" id="262" r:id="R0fd5cac14e8e4218"/>
    <p:sldId xmlns:r="http://schemas.openxmlformats.org/officeDocument/2006/relationships" id="263" r:id="Rfb0a9352f2cc4f0f"/>
    <p:sldId xmlns:r="http://schemas.openxmlformats.org/officeDocument/2006/relationships" id="264" r:id="R32a1fa2b1a504c44"/>
    <p:sldId xmlns:r="http://schemas.openxmlformats.org/officeDocument/2006/relationships" id="265" r:id="R1d392789f6694593"/>
    <p:sldId xmlns:r="http://schemas.openxmlformats.org/officeDocument/2006/relationships" id="266" r:id="R395543dcc0784756"/>
    <p:sldId xmlns:r="http://schemas.openxmlformats.org/officeDocument/2006/relationships" id="267" r:id="R40140117e4684154"/>
    <p:sldId xmlns:r="http://schemas.openxmlformats.org/officeDocument/2006/relationships" id="268" r:id="R36b53877772a4bcb"/>
    <p:sldId xmlns:r="http://schemas.openxmlformats.org/officeDocument/2006/relationships" id="269" r:id="Rd1858e75c59e4d63"/>
    <p:sldId xmlns:r="http://schemas.openxmlformats.org/officeDocument/2006/relationships" id="270" r:id="R9e38402c3831418f"/>
    <p:sldId xmlns:r="http://schemas.openxmlformats.org/officeDocument/2006/relationships" id="271" r:id="R1195e05c6a6d4a6c"/>
    <p:sldId xmlns:r="http://schemas.openxmlformats.org/officeDocument/2006/relationships" id="272" r:id="Rc3800a48d62d4393"/>
    <p:sldId xmlns:r="http://schemas.openxmlformats.org/officeDocument/2006/relationships" id="273" r:id="R18ed6a0bce6045e2"/>
    <p:sldId xmlns:r="http://schemas.openxmlformats.org/officeDocument/2006/relationships" id="274" r:id="Rcd3324f432734033"/>
    <p:sldId xmlns:r="http://schemas.openxmlformats.org/officeDocument/2006/relationships" id="275" r:id="R8bca65998cdd4d4b"/>
    <p:sldId xmlns:r="http://schemas.openxmlformats.org/officeDocument/2006/relationships" id="276" r:id="R4c3abad51e5c41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e842019c49466a" /><Relationship Type="http://schemas.openxmlformats.org/officeDocument/2006/relationships/slideMaster" Target="/ppt/slideMasters/slideMaster1.xml" Id="R817dfc585e044062" /><Relationship Type="http://schemas.openxmlformats.org/officeDocument/2006/relationships/notesMaster" Target="/ppt/notesMasters/notesMaster1.xml" Id="R0fd8a66680eb44ed" /><Relationship Type="http://schemas.openxmlformats.org/officeDocument/2006/relationships/presProps" Target="/ppt/presProps.xml" Id="R17910acbc9bb4122" /><Relationship Type="http://schemas.openxmlformats.org/officeDocument/2006/relationships/tableStyles" Target="/ppt/tableStyles.xml" Id="R97c675583b3a463d" /><Relationship Type="http://schemas.openxmlformats.org/officeDocument/2006/relationships/slide" Target="/ppt/slides/slide1.xml" Id="R77727a9acc57464a" /><Relationship Type="http://schemas.openxmlformats.org/officeDocument/2006/relationships/slide" Target="/ppt/slides/slide2.xml" Id="R95cbbe21b0514fc6" /><Relationship Type="http://schemas.openxmlformats.org/officeDocument/2006/relationships/slide" Target="/ppt/slides/slide3.xml" Id="R3b1b486658fd4730" /><Relationship Type="http://schemas.openxmlformats.org/officeDocument/2006/relationships/slide" Target="/ppt/slides/slide4.xml" Id="R18fd266318e445b2" /><Relationship Type="http://schemas.openxmlformats.org/officeDocument/2006/relationships/slide" Target="/ppt/slides/slide5.xml" Id="Rb7622b0fe63d4409" /><Relationship Type="http://schemas.openxmlformats.org/officeDocument/2006/relationships/slide" Target="/ppt/slides/slide6.xml" Id="R602743f54e2347bf" /><Relationship Type="http://schemas.openxmlformats.org/officeDocument/2006/relationships/slide" Target="/ppt/slides/slide7.xml" Id="R0fd5cac14e8e4218" /><Relationship Type="http://schemas.openxmlformats.org/officeDocument/2006/relationships/slide" Target="/ppt/slides/slide8.xml" Id="Rfb0a9352f2cc4f0f" /><Relationship Type="http://schemas.openxmlformats.org/officeDocument/2006/relationships/slide" Target="/ppt/slides/slide9.xml" Id="R32a1fa2b1a504c44" /><Relationship Type="http://schemas.openxmlformats.org/officeDocument/2006/relationships/slide" Target="/ppt/slides/slide10.xml" Id="R1d392789f6694593" /><Relationship Type="http://schemas.openxmlformats.org/officeDocument/2006/relationships/slide" Target="/ppt/slides/slide11.xml" Id="R395543dcc0784756" /><Relationship Type="http://schemas.openxmlformats.org/officeDocument/2006/relationships/slide" Target="/ppt/slides/slide12.xml" Id="R40140117e4684154" /><Relationship Type="http://schemas.openxmlformats.org/officeDocument/2006/relationships/slide" Target="/ppt/slides/slide13.xml" Id="R36b53877772a4bcb" /><Relationship Type="http://schemas.openxmlformats.org/officeDocument/2006/relationships/slide" Target="/ppt/slides/slide14.xml" Id="Rd1858e75c59e4d63" /><Relationship Type="http://schemas.openxmlformats.org/officeDocument/2006/relationships/slide" Target="/ppt/slides/slide15.xml" Id="R9e38402c3831418f" /><Relationship Type="http://schemas.openxmlformats.org/officeDocument/2006/relationships/slide" Target="/ppt/slides/slide16.xml" Id="R1195e05c6a6d4a6c" /><Relationship Type="http://schemas.openxmlformats.org/officeDocument/2006/relationships/slide" Target="/ppt/slides/slide17.xml" Id="Rc3800a48d62d4393" /><Relationship Type="http://schemas.openxmlformats.org/officeDocument/2006/relationships/slide" Target="/ppt/slides/slide18.xml" Id="R18ed6a0bce6045e2" /><Relationship Type="http://schemas.openxmlformats.org/officeDocument/2006/relationships/slide" Target="/ppt/slides/slide19.xml" Id="Rcd3324f432734033" /><Relationship Type="http://schemas.openxmlformats.org/officeDocument/2006/relationships/slide" Target="/ppt/slides/slide20.xml" Id="R8bca65998cdd4d4b" /><Relationship Type="http://schemas.openxmlformats.org/officeDocument/2006/relationships/slide" Target="/ppt/slides/slide21.xml" Id="R4c3abad51e5c41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090f6fed2f4d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1db0f1ed1142a6" /><Relationship Type="http://schemas.openxmlformats.org/officeDocument/2006/relationships/notesMaster" Target="/ppt/notesMasters/notesMaster1.xml" Id="R539a1fec7ad945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7e6dcfde184c1e" /><Relationship Type="http://schemas.openxmlformats.org/officeDocument/2006/relationships/notesMaster" Target="/ppt/notesMasters/notesMaster1.xml" Id="R427cfee1409c4c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a9fc4e97a44c1e" /><Relationship Type="http://schemas.openxmlformats.org/officeDocument/2006/relationships/notesMaster" Target="/ppt/notesMasters/notesMaster1.xml" Id="R446187a57c7b4c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52d39a8a164b3c" /><Relationship Type="http://schemas.openxmlformats.org/officeDocument/2006/relationships/notesMaster" Target="/ppt/notesMasters/notesMaster1.xml" Id="R7495809231384f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a2397a347b4f79" /><Relationship Type="http://schemas.openxmlformats.org/officeDocument/2006/relationships/notesMaster" Target="/ppt/notesMasters/notesMaster1.xml" Id="Rcf7933864d294b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396ff1b8d248be" /><Relationship Type="http://schemas.openxmlformats.org/officeDocument/2006/relationships/notesMaster" Target="/ppt/notesMasters/notesMaster1.xml" Id="Radde2724016b4f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331240d3b4467b" /><Relationship Type="http://schemas.openxmlformats.org/officeDocument/2006/relationships/notesMaster" Target="/ppt/notesMasters/notesMaster1.xml" Id="R3ac8741cd7974a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77294c41ba42a8" /><Relationship Type="http://schemas.openxmlformats.org/officeDocument/2006/relationships/notesMaster" Target="/ppt/notesMasters/notesMaster1.xml" Id="R2425a1d5968f41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9a650f69ef4c82" /><Relationship Type="http://schemas.openxmlformats.org/officeDocument/2006/relationships/notesMaster" Target="/ppt/notesMasters/notesMaster1.xml" Id="Rcae36dc232a748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b1ae9f6bd34735" /><Relationship Type="http://schemas.openxmlformats.org/officeDocument/2006/relationships/notesMaster" Target="/ppt/notesMasters/notesMaster1.xml" Id="Rc898fb88a4664d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07ba3792454d05" /><Relationship Type="http://schemas.openxmlformats.org/officeDocument/2006/relationships/notesMaster" Target="/ppt/notesMasters/notesMaster1.xml" Id="R89e615bee6e344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5b8ece210d4778" /><Relationship Type="http://schemas.openxmlformats.org/officeDocument/2006/relationships/notesMaster" Target="/ppt/notesMasters/notesMaster1.xml" Id="Rdd032a1dd6224e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3cc50fcd8e34dee" /><Relationship Type="http://schemas.openxmlformats.org/officeDocument/2006/relationships/notesMaster" Target="/ppt/notesMasters/notesMaster1.xml" Id="R27aadc9732da47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ede67fa314466e" /><Relationship Type="http://schemas.openxmlformats.org/officeDocument/2006/relationships/notesMaster" Target="/ppt/notesMasters/notesMaster1.xml" Id="Raad62302291d45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11a2eb6e484d99" /><Relationship Type="http://schemas.openxmlformats.org/officeDocument/2006/relationships/notesMaster" Target="/ppt/notesMasters/notesMaster1.xml" Id="Rd2257448d3ea4f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3d7b9aa73240fa" /><Relationship Type="http://schemas.openxmlformats.org/officeDocument/2006/relationships/notesMaster" Target="/ppt/notesMasters/notesMaster1.xml" Id="R0fb616fc3d0e45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1cd95ae16e41d4" /><Relationship Type="http://schemas.openxmlformats.org/officeDocument/2006/relationships/notesMaster" Target="/ppt/notesMasters/notesMaster1.xml" Id="R8b6ff37573ad4a8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64300159cc445e" /><Relationship Type="http://schemas.openxmlformats.org/officeDocument/2006/relationships/notesMaster" Target="/ppt/notesMasters/notesMaster1.xml" Id="R616a8cef7aad4d1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a42352ec8604144" /><Relationship Type="http://schemas.openxmlformats.org/officeDocument/2006/relationships/notesMaster" Target="/ppt/notesMasters/notesMaster1.xml" Id="R0ac58b89ccfc44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f4eacf77df4035" /><Relationship Type="http://schemas.openxmlformats.org/officeDocument/2006/relationships/notesMaster" Target="/ppt/notesMasters/notesMaster1.xml" Id="R8aab8ce8d99f465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a42762bec24897" /><Relationship Type="http://schemas.openxmlformats.org/officeDocument/2006/relationships/notesMaster" Target="/ppt/notesMasters/notesMaster1.xml" Id="R1c4441f60bf14b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 Présenter FitBot comme une application web métier intégrant des modules d'IA. Le projet associe React, FastAPI et PostgreSQL. Les écrans suivants proviennent de la version locale du 26 octobre 2026 et utilisent des données fictives de démonstration. Source : README.md et code du dépôt.</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 Décrire le problème métier sans prétendre qu'un chatbot générique échoue systématiquement. La contribution est l'intégration : données persistantes, calculs déterministes, recherche documentaire et explications IA. Distinguer les cibles calculées des estimations faites à partir d'une photo ou d'un repas proposé. Sources : backend/app/modules/nutrition/calculator.py, backend/app/modules/progressive_overload/algorithms.py, backend/app/modules/rag_core/router.py.</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 Montrer la création du compte, puis expliquer JWT et le hachage bcrypt sans entrer dans les détails cryptographiques. Le serveur filtre les ressources par l'identifiant du compte. Les changements de mot de passe et la suppression du compte se trouvent dans le profil. Sources : backend/app/modules/auth/, frontend/src/context/AuthContext.tsx, frontend/src/components/AccountSettings.tsx. Capture réelle, données fictives.</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 Le tableau de bord rassemble les informations calculées à partir du profil et de l'historique. Les valeurs visibles appartiennent au scénario de démonstration et ne constituent pas une recommandation universelle. Source : frontend/src/views/TodayView.tsx.</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 Expliquer que le questionnaire applique un vote déterministe, puis que le LLM rédige une synthèse. Ne pas le présenter comme une mesure clinique ou un diagnostic métabolique validé. L'utilisateur garde la possibilité d'ajuster son profil. Sources : backend/app/modules/user/service.py, backend/app/prompts/guidance.py, frontend/src/components/SomatotypeQuizModal.tsx. Capture réelle de la première question.</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Le nouveau module reprend le profil, calcule ses indicateurs, recherche des passages et produit un bilan structuré. Pydantic définit la forme de la réponse. Des valeurs de repli existent si l'IA ne répond pas. Les projections de progrès et les catégories morphologiques restent indicatives, sans garantie individuelle. Sources : backend/app/modules/user/service.py, backend/app/modules/user/models.py, backend/app/prompts/guidance.py, frontend/src/components/AthleteBlueprintModal.tsx.</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 Expliquer le trajet d'une requête : navigateur, API protégée, calcul ou recherche, appel IA éventuel, validation et retour à l'interface. Les index FAISS ne remplacent pas PostgreSQL : ils servent à la recherche documentaire. Sources : backend/main_v2.py, backend/app/core/database.py, frontend/vite.config.js, backend/app/modules/rag_core/engine.py. Modèle configuré dans le code : gemini-3.5-flash-lite, remplaçable par la configuration.</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 Définir RAG : le modèle rédige à partir de passages retrouvés dans des documents. Les intentions couvrent nutrition, technique, journal d'entraînement, surcharge et général. Le serveur ajoute jusqu'à six messages précédents de la session. La persistance permet de reprendre la conversation après rechargement. Sources : backend/app/modules/rag_core/router.py, router_agent.py, frontend/src/views/ChatView.tsx.</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Le chat récupère jusqu'à cinq passages, le diagnostic de plateau jusqu'à trois. La similarité aide à sélectionner le contexte, mais ne prouve pas la validité scientifique de la source. Le corpus comprend aussi un résumé sur la récupération rédigé avec IA, identifié comme tel dans l'application. Un audit documentaire reste nécessaire. Sources : backend/app/modules/rag_core/engine.py, router.py, backend/docs/manifest.json, backend/app/modules/progressive_overload/service.py.</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 Mentionner Mifflin-St Jeor et Katch-McArdle selon les données disponibles. Les choix de coefficients et les seuils sont des règles du projet, pas une prescription médicale. La répartition est déterministe, indépendamment de l'appel au LLM. Sources : backend/app/modules/nutrition/calculator.py, service.py et router.py.</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 Le journal récent remplace le stockage métier dans le navigateur. Un résumé affiche consommé, cible et restant. La migration conserve les anciens repas, leur date et leur propriétaire. Sources : backend/app/modules/nutrition/food_log_service.py, log_router.py, frontend/src/components/nutrition/FoodLogSection.tsx, migration e3c2b8d5f0a1.</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Les préférences alimentaires entrent dans le prompt. Le backend parse le JSON, retire les éléments inutilisables et calcule lui-même si une suggestion respecte les calories restantes. Les nombres d'un repas proposé restent des estimations de l'IA, contrairement aux cibles quotidiennes. Source : backend/app/modules/nutrition/suggestion_service.py et frontend/src/components/nutrition/FoodLogSection.tsx.</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L'image de démonstration a réellement été analysée par l'API. Ne pas lire les calories comme une mesure exacte : quantité, assaisonnement et aliments cachés rendent l'estimation incertaine. La photo n'est pas enregistrée dans la base. Un échec d'API ne produit pas de faux repas. Sources : backend/app/modules/nutrition/router.py, backend/app/prompts/vision.py. Photo : Cupofjoy, « Salad in a bowl.jpg », Wikimedia Commons, CC0 1.0, https://commons.wikimedia.org/wiki/File:Salad_in_a_bowl.jpg.</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 Montrer le split Upper/Lower comme exemple. La génération de base ne demande pas au modèle d'inventer une routine à partir de rien : elle utilise le catalogue et les règles Python. Les modifications de l'utilisateur persistent dans PostgreSQL. Sources : backend/app/modules/exercises/generator.py, router.py et frontend/src/views/WorkoutsView.tsx.</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 Décrire le partage des tâches : le code inspecte le programme, sélectionne une proposition dans le catalogue et prépare les faits. L'IA explique ce choix avec une réponse courte. Selon le cas, une réponse équilibrée peut provenir du chemin déterministe. La suggestion n'est pas appliquée sans action utilisateur. Source : backend/app/modules/exercises/router.py, endpoint ai-suggest-exercise, backend/app/prompts/routine.py.</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 Montrer la différence entre les consignes du catalogue et l'enrichissement par des documents. Les conseils sur la douleur incluent des précautions et ne servent pas à établir un diagnostic. Sources : backend/app/modules/exercises/catalog.py, router.py, frontend/src/views/WorkoutsView.tsx.</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 Le scénario fictif garde une charge de 80 kg, avec RPE croissant et baisse des répétitions. L'algorithme signale un profil compatible avec la fatigue et propose une réduction temporaire. Il s'agit d'une interprétation heuristique des séances, pas d'un diagnostic physiologique. La prose est contrôlée pour rester cohérente avec les faits calculés. Sources : backend/app/modules/progressive_overload/algorithms.py et service.py. Les constantes sont versionnées v1.1.</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 Préciser que la température 0,3 concerne le diagnostic de plateau, pas tous les appels. La validation de forme ne garantit pas la vérité de la réponse. Le préchargement des embeddings réduit le coût du premier message et le streaming améliore la perception du temps d'attente. Si le fournisseur échoue, le chat peut afficher les extraits retrouvés et signaler son état dégradé. Sources : backend/app/modules/rag_core/engine.py et router.py, backend/app/core/privacy.py, backend/app/core/config.py, backend/app/modules/progressive_overload/service.py.</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 Résultat observé dans le journal de test du 26 octobre 2026 : 341 passed, 2 skipped. Le build Vite et la vérification TypeScript ont aussi réussi. La suite utilise un LLM factice et SQLite isolé. Des contrôles API avec PostgreSQL ont validé les nouvelles routes et la suppression des comptes temporaires. Les identifiants reconnus sont masqués avant certains appels texte, mais cela ne constitue pas une anonymisation complète. Sources : .git/pytest-final-sync.log, backend/tests/test_sync_integration.py, backend/tests/conftest.py et backend/app/core/privacy.py.</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Ne pas annoncer de taux d'absence d'hallucination ni d'économies de 75 % : le projet ne fournit pas une mesure actuelle les démontrant. Des métriques utiles seraient la pertinence des passages, l'exactitude des citations, la conformité du JSON et la latence par module. Le bilan morphologique et les projections doivent rester indicatifs. La gestion de session et le masquage peuvent aussi être renforcés pour une mise en production.</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 Passer à la démonstration dans le navigateur. Les captures servent de support de secours si l'API externe est indisponible. Montrer les valeurs calculées, un échange RAG et la conservation des données au rechargement. Terminer par les questions. Code source : https://github.com/nessimbns2/FitBot.</a:t>
            </a:r>
          </a:p>
          <a:p xmlns:a="http://schemas.openxmlformats.org/drawingml/2006/main">
            <a:r>
              <a:t/>
            </a:r>
          </a:p>
          <a:p xmlns:a="http://schemas.openxmlformats.org/drawingml/2006/main">
            <a:r>
              <a:t>Les captures montrent des données fictives de démonstration. Version du projet : 26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f5b9a05a284f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91a1d57e4640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97dcff311345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41e9ecfb2c43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386aa8cbec47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43d5176e6841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9620CE-1D48-4433-BFF6-62C9888E8A1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7CFBCB-9A7D-4BD3-A255-2E8161E843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CC672F-0C0C-42A3-A3D9-8BC0EF7C7C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C7E861-603D-4A3B-9D38-6DD4AC1CAB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464FE0-021C-4A6F-B4DA-8E8223C81E5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D6143BD-BF49-4114-B0E1-D13D07783B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E75855-D4B6-48B4-B30A-8CDC481717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A539C2-11D7-4282-96CD-F3444C9FC6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EF1B53-33CE-4FF3-B284-8875144FEF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D70EFE-DB31-4A56-B1A6-BAD6C50029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22b03ce4424324" /><Relationship Type="http://schemas.openxmlformats.org/officeDocument/2006/relationships/slideLayout" Target="/ppt/slideLayouts/slideLayout1.xml" Id="R1a2f051cd67b4abe" /><Relationship Type="http://schemas.openxmlformats.org/officeDocument/2006/relationships/slideLayout" Target="/ppt/slideLayouts/slideLayout2.xml" Id="R7f1c272a38a6444d" /><Relationship Type="http://schemas.openxmlformats.org/officeDocument/2006/relationships/slideLayout" Target="/ppt/slideLayouts/slideLayout3.xml" Id="Rcb7d4118888d4d29" /><Relationship Type="http://schemas.openxmlformats.org/officeDocument/2006/relationships/slideLayout" Target="/ppt/slideLayouts/slideLayout4.xml" Id="Rad815b5b311b4db8" /><Relationship Type="http://schemas.openxmlformats.org/officeDocument/2006/relationships/slideLayout" Target="/ppt/slideLayouts/slideLayout5.xml" Id="Re27710abce1f431f" /><Relationship Type="http://schemas.openxmlformats.org/officeDocument/2006/relationships/slideLayout" Target="/ppt/slideLayouts/slideLayout6.xml" Id="R1016ea47746d47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2f051cd67b4abe"/>
    <p:sldLayoutId xmlns:r="http://schemas.openxmlformats.org/officeDocument/2006/relationships" id="2147483650" r:id="R7f1c272a38a6444d"/>
    <p:sldLayoutId xmlns:r="http://schemas.openxmlformats.org/officeDocument/2006/relationships" id="2147483651" r:id="Rcb7d4118888d4d29"/>
    <p:sldLayoutId xmlns:r="http://schemas.openxmlformats.org/officeDocument/2006/relationships" id="2147483652" r:id="Rad815b5b311b4db8"/>
    <p:sldLayoutId xmlns:r="http://schemas.openxmlformats.org/officeDocument/2006/relationships" id="2147483653" r:id="Re27710abce1f431f"/>
    <p:sldLayoutId xmlns:r="http://schemas.openxmlformats.org/officeDocument/2006/relationships" id="2147483654" r:id="R1016ea47746d47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648f65707e4b75" /><Relationship Type="http://schemas.openxmlformats.org/officeDocument/2006/relationships/notesSlide" Target="/ppt/notesSlides/notesSlide1.xml" Id="R90ad7698131949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4f269b51f047cd" /><Relationship Type="http://schemas.openxmlformats.org/officeDocument/2006/relationships/notesSlide" Target="/ppt/notesSlides/notesSlide2.xml" Id="R4d7214da79cb48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d14c4f6cea4e03" /><Relationship Type="http://schemas.openxmlformats.org/officeDocument/2006/relationships/image" Target="/ppt/media/image.png" Id="R88b0caa933f04f88" /><Relationship Type="http://schemas.openxmlformats.org/officeDocument/2006/relationships/notesSlide" Target="/ppt/notesSlides/notesSlide3.xml" Id="Rb5ebf0ac895a47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2ce0df8a614919" /><Relationship Type="http://schemas.openxmlformats.org/officeDocument/2006/relationships/image" Target="/ppt/media/image2.png" Id="Rca7115c2a91748e2" /><Relationship Type="http://schemas.openxmlformats.org/officeDocument/2006/relationships/notesSlide" Target="/ppt/notesSlides/notesSlide4.xml" Id="R961de0ab956944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8c58e56f01d46fa" /><Relationship Type="http://schemas.openxmlformats.org/officeDocument/2006/relationships/image" Target="/ppt/media/image3.png" Id="Rb5f7378249df47bd" /><Relationship Type="http://schemas.openxmlformats.org/officeDocument/2006/relationships/notesSlide" Target="/ppt/notesSlides/notesSlide5.xml" Id="R49c0daa7a69d48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b07c67df4b24b0d" /><Relationship Type="http://schemas.openxmlformats.org/officeDocument/2006/relationships/image" Target="/ppt/media/image4.png" Id="Rc30a2ad88dfe4efc" /><Relationship Type="http://schemas.openxmlformats.org/officeDocument/2006/relationships/notesSlide" Target="/ppt/notesSlides/notesSlide6.xml" Id="Rfeffa1ee474142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6040783c1d4f0a" /><Relationship Type="http://schemas.openxmlformats.org/officeDocument/2006/relationships/notesSlide" Target="/ppt/notesSlides/notesSlide7.xml" Id="Rb5310184ab8042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3b9fbec05046ce" /><Relationship Type="http://schemas.openxmlformats.org/officeDocument/2006/relationships/image" Target="/ppt/media/image5.png" Id="Rd16f727f6f3c4291" /><Relationship Type="http://schemas.openxmlformats.org/officeDocument/2006/relationships/notesSlide" Target="/ppt/notesSlides/notesSlide8.xml" Id="R2e4a3646d77045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0c169435d54483" /><Relationship Type="http://schemas.openxmlformats.org/officeDocument/2006/relationships/image" Target="/ppt/media/image6.png" Id="R81c64c060ff649e9" /><Relationship Type="http://schemas.openxmlformats.org/officeDocument/2006/relationships/notesSlide" Target="/ppt/notesSlides/notesSlide9.xml" Id="R442c45066f234f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d8879ed5834f40" /><Relationship Type="http://schemas.openxmlformats.org/officeDocument/2006/relationships/image" Target="/ppt/media/image7.png" Id="R8ff55d321acc4628" /><Relationship Type="http://schemas.openxmlformats.org/officeDocument/2006/relationships/notesSlide" Target="/ppt/notesSlides/notesSlide10.xml" Id="R3a51640dc45948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c778c6905f4c15" /><Relationship Type="http://schemas.openxmlformats.org/officeDocument/2006/relationships/image" Target="/ppt/media/image8.png" Id="R437096c854cb4582" /><Relationship Type="http://schemas.openxmlformats.org/officeDocument/2006/relationships/notesSlide" Target="/ppt/notesSlides/notesSlide11.xml" Id="Rc45de50b08ae40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05a157d7d54afe" /><Relationship Type="http://schemas.openxmlformats.org/officeDocument/2006/relationships/image" Target="/ppt/media/image9.png" Id="R65a80b04f7db49b2" /><Relationship Type="http://schemas.openxmlformats.org/officeDocument/2006/relationships/notesSlide" Target="/ppt/notesSlides/notesSlide12.xml" Id="R06925cb3878248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a9eddcbd0374aff" /><Relationship Type="http://schemas.openxmlformats.org/officeDocument/2006/relationships/image" Target="/ppt/media/image10.png" Id="R7367a030ba2047db" /><Relationship Type="http://schemas.openxmlformats.org/officeDocument/2006/relationships/notesSlide" Target="/ppt/notesSlides/notesSlide13.xml" Id="R86a53f588feb40e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72e37dfe8e14b60" /><Relationship Type="http://schemas.openxmlformats.org/officeDocument/2006/relationships/image" Target="/ppt/media/image11.png" Id="Rc62bc2f658204337" /><Relationship Type="http://schemas.openxmlformats.org/officeDocument/2006/relationships/notesSlide" Target="/ppt/notesSlides/notesSlide14.xml" Id="R6d01c41f708240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5779a0c5c7c415b" /><Relationship Type="http://schemas.openxmlformats.org/officeDocument/2006/relationships/image" Target="/ppt/media/image12.png" Id="R41c7d37f35db4ed5" /><Relationship Type="http://schemas.openxmlformats.org/officeDocument/2006/relationships/notesSlide" Target="/ppt/notesSlides/notesSlide15.xml" Id="Radf5ea1e83ab4e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267745280c342df" /><Relationship Type="http://schemas.openxmlformats.org/officeDocument/2006/relationships/image" Target="/ppt/media/image13.png" Id="Rc63a3724c69f45ba" /><Relationship Type="http://schemas.openxmlformats.org/officeDocument/2006/relationships/notesSlide" Target="/ppt/notesSlides/notesSlide16.xml" Id="Rc44fafd7f6ac4a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d5ee8273c514938" /><Relationship Type="http://schemas.openxmlformats.org/officeDocument/2006/relationships/image" Target="/ppt/media/image14.png" Id="R2a58f5bb64d24e30" /><Relationship Type="http://schemas.openxmlformats.org/officeDocument/2006/relationships/notesSlide" Target="/ppt/notesSlides/notesSlide17.xml" Id="R30c8d83c77fd47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24e3657ff6249c8" /><Relationship Type="http://schemas.openxmlformats.org/officeDocument/2006/relationships/notesSlide" Target="/ppt/notesSlides/notesSlide18.xml" Id="R8aaff248dd0444d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4b31dbae8284017" /><Relationship Type="http://schemas.openxmlformats.org/officeDocument/2006/relationships/notesSlide" Target="/ppt/notesSlides/notesSlide19.xml" Id="Rcbd35aab3f3f4d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d4e60741985453f" /><Relationship Type="http://schemas.openxmlformats.org/officeDocument/2006/relationships/notesSlide" Target="/ppt/notesSlides/notesSlide20.xml" Id="Rc0ad2f36e4bd4fd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533bfc296b943dc" /><Relationship Type="http://schemas.openxmlformats.org/officeDocument/2006/relationships/image" Target="/ppt/media/image15.png" Id="Ra612e483d3d544ec" /><Relationship Type="http://schemas.openxmlformats.org/officeDocument/2006/relationships/notesSlide" Target="/ppt/notesSlides/notesSlide21.xml" Id="Rf60b04a2e2194ccc" /></Relationships>
</file>

<file path=ppt/slides/slide1.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FitBot">
            <a:extLst xmlns:a="http://schemas.openxmlformats.org/drawingml/2006/main">
              <a:ext uri="{FF2B5EF4-FFF2-40B4-BE49-F238E27FC236}">
                <a16:creationId xmlns:a16="http://schemas.microsoft.com/office/drawing/2014/main" id="{EFC432B1-C5D5-4E21-B409-5EE2DC5F72AF}"/>
              </a:ext>
            </a:extLst>
          </p:cNvPr>
          <p:cNvSpPr>
            <a:spLocks xmlns:a="http://schemas.openxmlformats.org/drawingml/2006/main" noGrp="1"/>
          </p:cNvSpPr>
          <p:nvPr/>
        </p:nvSpPr>
        <p:spPr>
          <a:xfrm xmlns:a="http://schemas.openxmlformats.org/drawingml/2006/main">
            <a:off x="628650" y="138112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700" b="1">
                <a:solidFill>
                  <a:srgbClr val="F7FAFC"/>
                </a:solidFill>
              </a:defRPr>
            </a:defPPr>
            <a:lvl1pPr>
              <a:defRPr sz="8700" b="1">
                <a:solidFill>
                  <a:srgbClr val="F7FAFC"/>
                </a:solidFill>
              </a:defRPr>
            </a:lvl1pPr>
            <a:lvl2pPr>
              <a:defRPr sz="8700" b="1">
                <a:solidFill>
                  <a:srgbClr val="F7FAFC"/>
                </a:solidFill>
              </a:defRPr>
            </a:lvl2pPr>
            <a:lvl3pPr>
              <a:defRPr sz="8700" b="1">
                <a:solidFill>
                  <a:srgbClr val="F7FAFC"/>
                </a:solidFill>
              </a:defRPr>
            </a:lvl3pPr>
            <a:lvl4pPr>
              <a:defRPr sz="8700" b="1">
                <a:solidFill>
                  <a:srgbClr val="F7FAFC"/>
                </a:solidFill>
              </a:defRPr>
            </a:lvl4pPr>
            <a:lvl5pPr>
              <a:defRPr sz="8700" b="1">
                <a:solidFill>
                  <a:srgbClr val="F7FAFC"/>
                </a:solidFill>
              </a:defRPr>
            </a:lvl5pPr>
            <a:lvl6pPr>
              <a:defRPr sz="8700" b="1">
                <a:solidFill>
                  <a:srgbClr val="F7FAFC"/>
                </a:solidFill>
              </a:defRPr>
            </a:lvl6pPr>
            <a:lvl7pPr>
              <a:defRPr sz="8700" b="1">
                <a:solidFill>
                  <a:srgbClr val="F7FAFC"/>
                </a:solidFill>
              </a:defRPr>
            </a:lvl7pPr>
            <a:lvl8pPr>
              <a:defRPr sz="8700" b="1">
                <a:solidFill>
                  <a:srgbClr val="F7FAFC"/>
                </a:solidFill>
              </a:defRPr>
            </a:lvl8pPr>
            <a:lvl9pPr>
              <a:defRPr sz="8700" b="1">
                <a:solidFill>
                  <a:srgbClr val="F7FAFC"/>
                </a:solidFill>
              </a:defRPr>
            </a:lvl9pPr>
          </a:lstStyle>
          <a:p xmlns:a="http://schemas.openxmlformats.org/drawingml/2006/main">
            <a:pPr>
              <a:defRPr sz="8700" b="1">
                <a:solidFill>
                  <a:srgbClr val="F7FAFC"/>
                </a:solidFill>
              </a:defRPr>
            </a:pPr>
            <a:r>
              <a:rPr sz="8700" b="1">
                <a:solidFill>
                  <a:srgbClr val="F7FAFC"/>
                </a:solidFill>
              </a:rPr>
              <a:t>FitBot</a:t>
            </a:r>
          </a:p>
        </p:txBody>
      </p:sp>
      <p:sp>
        <p:nvSpPr>
          <p:cNvPr id="3" name="Coaching sportif et nutritionnel&#10;assisté par ">
            <a:extLst xmlns:a="http://schemas.openxmlformats.org/drawingml/2006/main">
              <a:ext uri="{FF2B5EF4-FFF2-40B4-BE49-F238E27FC236}">
                <a16:creationId xmlns:a16="http://schemas.microsoft.com/office/drawing/2014/main" id="{59E15FE6-DB91-459D-B719-C6F448100057}"/>
              </a:ext>
            </a:extLst>
          </p:cNvPr>
          <p:cNvSpPr>
            <a:spLocks xmlns:a="http://schemas.openxmlformats.org/drawingml/2006/main" noGrp="1"/>
          </p:cNvSpPr>
          <p:nvPr/>
        </p:nvSpPr>
        <p:spPr>
          <a:xfrm xmlns:a="http://schemas.openxmlformats.org/drawingml/2006/main">
            <a:off x="685800" y="3133725"/>
            <a:ext cx="10429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0">
                <a:solidFill>
                  <a:srgbClr val="70E4CE"/>
                </a:solidFill>
              </a:defRPr>
            </a:defPPr>
            <a:lvl1pPr>
              <a:defRPr sz="3150" b="0">
                <a:solidFill>
                  <a:srgbClr val="70E4CE"/>
                </a:solidFill>
              </a:defRPr>
            </a:lvl1pPr>
            <a:lvl2pPr>
              <a:defRPr sz="3150" b="0">
                <a:solidFill>
                  <a:srgbClr val="70E4CE"/>
                </a:solidFill>
              </a:defRPr>
            </a:lvl2pPr>
            <a:lvl3pPr>
              <a:defRPr sz="3150" b="0">
                <a:solidFill>
                  <a:srgbClr val="70E4CE"/>
                </a:solidFill>
              </a:defRPr>
            </a:lvl3pPr>
            <a:lvl4pPr>
              <a:defRPr sz="3150" b="0">
                <a:solidFill>
                  <a:srgbClr val="70E4CE"/>
                </a:solidFill>
              </a:defRPr>
            </a:lvl4pPr>
            <a:lvl5pPr>
              <a:defRPr sz="3150" b="0">
                <a:solidFill>
                  <a:srgbClr val="70E4CE"/>
                </a:solidFill>
              </a:defRPr>
            </a:lvl5pPr>
            <a:lvl6pPr>
              <a:defRPr sz="3150" b="0">
                <a:solidFill>
                  <a:srgbClr val="70E4CE"/>
                </a:solidFill>
              </a:defRPr>
            </a:lvl6pPr>
            <a:lvl7pPr>
              <a:defRPr sz="3150" b="0">
                <a:solidFill>
                  <a:srgbClr val="70E4CE"/>
                </a:solidFill>
              </a:defRPr>
            </a:lvl7pPr>
            <a:lvl8pPr>
              <a:defRPr sz="3150" b="0">
                <a:solidFill>
                  <a:srgbClr val="70E4CE"/>
                </a:solidFill>
              </a:defRPr>
            </a:lvl8pPr>
            <a:lvl9pPr>
              <a:defRPr sz="3150" b="0">
                <a:solidFill>
                  <a:srgbClr val="70E4CE"/>
                </a:solidFill>
              </a:defRPr>
            </a:lvl9pPr>
          </a:lstStyle>
          <a:p xmlns:a="http://schemas.openxmlformats.org/drawingml/2006/main">
            <a:pPr>
              <a:defRPr sz="3150" b="0">
                <a:solidFill>
                  <a:srgbClr val="70E4CE"/>
                </a:solidFill>
              </a:defRPr>
            </a:pPr>
            <a:r>
              <a:rPr sz="3150" b="0">
                <a:solidFill>
                  <a:srgbClr val="70E4CE"/>
                </a:solidFill>
              </a:rPr>
              <a:t>Coaching sportif et nutritionnel</a:t>
            </a:r>
          </a:p>
          <a:p xmlns:a="http://schemas.openxmlformats.org/drawingml/2006/main">
            <a:pPr>
              <a:defRPr sz="3150" b="0">
                <a:solidFill>
                  <a:srgbClr val="70E4CE"/>
                </a:solidFill>
              </a:defRPr>
            </a:pPr>
            <a:r>
              <a:rPr sz="3150" b="0">
                <a:solidFill>
                  <a:srgbClr val="70E4CE"/>
                </a:solidFill>
              </a:rPr>
              <a:t>assisté par intelligence artificielle</a:t>
            </a:r>
          </a:p>
        </p:txBody>
      </p:sp>
      <p:sp>
        <p:nvSpPr>
          <p:cNvPr id="4" name="Mini-projet IA for Software Engineering">
            <a:extLst xmlns:a="http://schemas.openxmlformats.org/drawingml/2006/main">
              <a:ext uri="{FF2B5EF4-FFF2-40B4-BE49-F238E27FC236}">
                <a16:creationId xmlns:a16="http://schemas.microsoft.com/office/drawing/2014/main" id="{951E58FD-C775-47DD-8AB1-D902CDD5CAA2}"/>
              </a:ext>
            </a:extLst>
          </p:cNvPr>
          <p:cNvSpPr>
            <a:spLocks xmlns:a="http://schemas.openxmlformats.org/drawingml/2006/main" noGrp="1"/>
          </p:cNvSpPr>
          <p:nvPr/>
        </p:nvSpPr>
        <p:spPr>
          <a:xfrm xmlns:a="http://schemas.openxmlformats.org/drawingml/2006/main">
            <a:off x="704850" y="5534025"/>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4C2D6"/>
                </a:solidFill>
              </a:defRPr>
            </a:defPPr>
            <a:lvl1pPr>
              <a:defRPr sz="1800" b="0">
                <a:solidFill>
                  <a:srgbClr val="B4C2D6"/>
                </a:solidFill>
              </a:defRPr>
            </a:lvl1pPr>
            <a:lvl2pPr>
              <a:defRPr sz="1800" b="0">
                <a:solidFill>
                  <a:srgbClr val="B4C2D6"/>
                </a:solidFill>
              </a:defRPr>
            </a:lvl2pPr>
            <a:lvl3pPr>
              <a:defRPr sz="1800" b="0">
                <a:solidFill>
                  <a:srgbClr val="B4C2D6"/>
                </a:solidFill>
              </a:defRPr>
            </a:lvl3pPr>
            <a:lvl4pPr>
              <a:defRPr sz="1800" b="0">
                <a:solidFill>
                  <a:srgbClr val="B4C2D6"/>
                </a:solidFill>
              </a:defRPr>
            </a:lvl4pPr>
            <a:lvl5pPr>
              <a:defRPr sz="1800" b="0">
                <a:solidFill>
                  <a:srgbClr val="B4C2D6"/>
                </a:solidFill>
              </a:defRPr>
            </a:lvl5pPr>
            <a:lvl6pPr>
              <a:defRPr sz="1800" b="0">
                <a:solidFill>
                  <a:srgbClr val="B4C2D6"/>
                </a:solidFill>
              </a:defRPr>
            </a:lvl6pPr>
            <a:lvl7pPr>
              <a:defRPr sz="1800" b="0">
                <a:solidFill>
                  <a:srgbClr val="B4C2D6"/>
                </a:solidFill>
              </a:defRPr>
            </a:lvl7pPr>
            <a:lvl8pPr>
              <a:defRPr sz="1800" b="0">
                <a:solidFill>
                  <a:srgbClr val="B4C2D6"/>
                </a:solidFill>
              </a:defRPr>
            </a:lvl8pPr>
            <a:lvl9pPr>
              <a:defRPr sz="1800" b="0">
                <a:solidFill>
                  <a:srgbClr val="B4C2D6"/>
                </a:solidFill>
              </a:defRPr>
            </a:lvl9pPr>
          </a:lstStyle>
          <a:p xmlns:a="http://schemas.openxmlformats.org/drawingml/2006/main">
            <a:pPr>
              <a:defRPr sz="1800" b="0">
                <a:solidFill>
                  <a:srgbClr val="B4C2D6"/>
                </a:solidFill>
              </a:defRPr>
            </a:pPr>
            <a:r>
              <a:rPr sz="1800" b="0">
                <a:solidFill>
                  <a:srgbClr val="B4C2D6"/>
                </a:solidFill>
              </a:rPr>
              <a:t>Mini-projet IA for Software Engineering</a:t>
            </a:r>
          </a:p>
        </p:txBody>
      </p:sp>
      <p:sp>
        <p:nvSpPr>
          <p:cNvPr id="5" name="Équipe FitBot · 26 octobre 2026">
            <a:extLst xmlns:a="http://schemas.openxmlformats.org/drawingml/2006/main">
              <a:ext uri="{FF2B5EF4-FFF2-40B4-BE49-F238E27FC236}">
                <a16:creationId xmlns:a16="http://schemas.microsoft.com/office/drawing/2014/main" id="{243BED83-43BC-44FE-98DB-E98F1CF99418}"/>
              </a:ext>
            </a:extLst>
          </p:cNvPr>
          <p:cNvSpPr>
            <a:spLocks xmlns:a="http://schemas.openxmlformats.org/drawingml/2006/main" noGrp="1"/>
          </p:cNvSpPr>
          <p:nvPr/>
        </p:nvSpPr>
        <p:spPr>
          <a:xfrm xmlns:a="http://schemas.openxmlformats.org/drawingml/2006/main">
            <a:off x="704850" y="59436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B4C2D6"/>
                </a:solidFill>
              </a:defRPr>
            </a:defPPr>
            <a:lvl1pPr>
              <a:defRPr sz="1500" b="0">
                <a:solidFill>
                  <a:srgbClr val="B4C2D6"/>
                </a:solidFill>
              </a:defRPr>
            </a:lvl1pPr>
            <a:lvl2pPr>
              <a:defRPr sz="1500" b="0">
                <a:solidFill>
                  <a:srgbClr val="B4C2D6"/>
                </a:solidFill>
              </a:defRPr>
            </a:lvl2pPr>
            <a:lvl3pPr>
              <a:defRPr sz="1500" b="0">
                <a:solidFill>
                  <a:srgbClr val="B4C2D6"/>
                </a:solidFill>
              </a:defRPr>
            </a:lvl3pPr>
            <a:lvl4pPr>
              <a:defRPr sz="1500" b="0">
                <a:solidFill>
                  <a:srgbClr val="B4C2D6"/>
                </a:solidFill>
              </a:defRPr>
            </a:lvl4pPr>
            <a:lvl5pPr>
              <a:defRPr sz="1500" b="0">
                <a:solidFill>
                  <a:srgbClr val="B4C2D6"/>
                </a:solidFill>
              </a:defRPr>
            </a:lvl5pPr>
            <a:lvl6pPr>
              <a:defRPr sz="1500" b="0">
                <a:solidFill>
                  <a:srgbClr val="B4C2D6"/>
                </a:solidFill>
              </a:defRPr>
            </a:lvl6pPr>
            <a:lvl7pPr>
              <a:defRPr sz="1500" b="0">
                <a:solidFill>
                  <a:srgbClr val="B4C2D6"/>
                </a:solidFill>
              </a:defRPr>
            </a:lvl7pPr>
            <a:lvl8pPr>
              <a:defRPr sz="1500" b="0">
                <a:solidFill>
                  <a:srgbClr val="B4C2D6"/>
                </a:solidFill>
              </a:defRPr>
            </a:lvl8pPr>
            <a:lvl9pPr>
              <a:defRPr sz="1500" b="0">
                <a:solidFill>
                  <a:srgbClr val="B4C2D6"/>
                </a:solidFill>
              </a:defRPr>
            </a:lvl9pPr>
          </a:lstStyle>
          <a:p xmlns:a="http://schemas.openxmlformats.org/drawingml/2006/main">
            <a:pPr>
              <a:defRPr sz="1500" b="0">
                <a:solidFill>
                  <a:srgbClr val="B4C2D6"/>
                </a:solidFill>
              </a:defRPr>
            </a:pPr>
            <a:r>
              <a:rPr sz="1500" b="0">
                <a:solidFill>
                  <a:srgbClr val="B4C2D6"/>
                </a:solidFill>
              </a:rPr>
              <a:t>Équipe FitBot · 26 octobre 2026</a:t>
            </a:r>
          </a:p>
        </p:txBody>
      </p:sp>
    </p:spTree>
    <p:extLst>
      <p:ext uri="{BB962C8B-B14F-4D97-AF65-F5344CB8AC3E}">
        <p14:creationId xmlns:p14="http://schemas.microsoft.com/office/powerpoint/2010/main" val="1287035768"/>
      </p:ext>
    </p:extLst>
  </p:cSld>
</p:sld>
</file>

<file path=ppt/slides/slide2.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e besoin et notre réponse">
            <a:extLst xmlns:a="http://schemas.openxmlformats.org/drawingml/2006/main">
              <a:ext uri="{FF2B5EF4-FFF2-40B4-BE49-F238E27FC236}">
                <a16:creationId xmlns:a16="http://schemas.microsoft.com/office/drawing/2014/main" id="{6D228478-066F-4BA4-86EC-2BF905D26907}"/>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Le besoin et notre réponse</a:t>
            </a:r>
          </a:p>
        </p:txBody>
      </p:sp>
      <p:sp>
        <p:nvSpPr>
          <p:cNvPr id="3" name="FitBot">
            <a:extLst xmlns:a="http://schemas.openxmlformats.org/drawingml/2006/main">
              <a:ext uri="{FF2B5EF4-FFF2-40B4-BE49-F238E27FC236}">
                <a16:creationId xmlns:a16="http://schemas.microsoft.com/office/drawing/2014/main" id="{F4A7400D-EE5F-4496-9E5F-E6B0D3F7126A}"/>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02">
            <a:extLst xmlns:a="http://schemas.openxmlformats.org/drawingml/2006/main">
              <a:ext uri="{FF2B5EF4-FFF2-40B4-BE49-F238E27FC236}">
                <a16:creationId xmlns:a16="http://schemas.microsoft.com/office/drawing/2014/main" id="{B93C02EA-1753-4F8A-98E4-FD67A50C5EA9}"/>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02</a:t>
            </a:r>
          </a:p>
        </p:txBody>
      </p:sp>
      <p:sp>
        <p:nvSpPr>
          <p:cNvPr id="5" name="Un suivi personnel, des réponses que l’on peu">
            <a:extLst xmlns:a="http://schemas.openxmlformats.org/drawingml/2006/main">
              <a:ext uri="{FF2B5EF4-FFF2-40B4-BE49-F238E27FC236}">
                <a16:creationId xmlns:a16="http://schemas.microsoft.com/office/drawing/2014/main" id="{299E1459-6500-49E9-B616-D7DA59417B45}"/>
              </a:ext>
            </a:extLst>
          </p:cNvPr>
          <p:cNvSpPr>
            <a:spLocks xmlns:a="http://schemas.openxmlformats.org/drawingml/2006/main" noGrp="1"/>
          </p:cNvSpPr>
          <p:nvPr/>
        </p:nvSpPr>
        <p:spPr>
          <a:xfrm xmlns:a="http://schemas.openxmlformats.org/drawingml/2006/main">
            <a:off x="628650" y="1724025"/>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0">
                <a:solidFill>
                  <a:srgbClr val="70E4CE"/>
                </a:solidFill>
              </a:defRPr>
            </a:defPPr>
            <a:lvl1pPr>
              <a:defRPr sz="2775" b="0">
                <a:solidFill>
                  <a:srgbClr val="70E4CE"/>
                </a:solidFill>
              </a:defRPr>
            </a:lvl1pPr>
            <a:lvl2pPr>
              <a:defRPr sz="2775" b="0">
                <a:solidFill>
                  <a:srgbClr val="70E4CE"/>
                </a:solidFill>
              </a:defRPr>
            </a:lvl2pPr>
            <a:lvl3pPr>
              <a:defRPr sz="2775" b="0">
                <a:solidFill>
                  <a:srgbClr val="70E4CE"/>
                </a:solidFill>
              </a:defRPr>
            </a:lvl3pPr>
            <a:lvl4pPr>
              <a:defRPr sz="2775" b="0">
                <a:solidFill>
                  <a:srgbClr val="70E4CE"/>
                </a:solidFill>
              </a:defRPr>
            </a:lvl4pPr>
            <a:lvl5pPr>
              <a:defRPr sz="2775" b="0">
                <a:solidFill>
                  <a:srgbClr val="70E4CE"/>
                </a:solidFill>
              </a:defRPr>
            </a:lvl5pPr>
            <a:lvl6pPr>
              <a:defRPr sz="2775" b="0">
                <a:solidFill>
                  <a:srgbClr val="70E4CE"/>
                </a:solidFill>
              </a:defRPr>
            </a:lvl6pPr>
            <a:lvl7pPr>
              <a:defRPr sz="2775" b="0">
                <a:solidFill>
                  <a:srgbClr val="70E4CE"/>
                </a:solidFill>
              </a:defRPr>
            </a:lvl7pPr>
            <a:lvl8pPr>
              <a:defRPr sz="2775" b="0">
                <a:solidFill>
                  <a:srgbClr val="70E4CE"/>
                </a:solidFill>
              </a:defRPr>
            </a:lvl8pPr>
            <a:lvl9pPr>
              <a:defRPr sz="2775" b="0">
                <a:solidFill>
                  <a:srgbClr val="70E4CE"/>
                </a:solidFill>
              </a:defRPr>
            </a:lvl9pPr>
          </a:lstStyle>
          <a:p xmlns:a="http://schemas.openxmlformats.org/drawingml/2006/main">
            <a:pPr>
              <a:defRPr sz="2775" b="0">
                <a:solidFill>
                  <a:srgbClr val="70E4CE"/>
                </a:solidFill>
              </a:defRPr>
            </a:pPr>
            <a:r>
              <a:rPr sz="2775" b="0">
                <a:solidFill>
                  <a:srgbClr val="70E4CE"/>
                </a:solidFill>
              </a:rPr>
              <a:t>Un suivi personnel, des réponses que l’on peut vérifier</a:t>
            </a:r>
          </a:p>
        </p:txBody>
      </p:sp>
      <p:sp>
        <p:nvSpPr>
          <p:cNvPr id="6" name="Le besoin">
            <a:extLst xmlns:a="http://schemas.openxmlformats.org/drawingml/2006/main">
              <a:ext uri="{FF2B5EF4-FFF2-40B4-BE49-F238E27FC236}">
                <a16:creationId xmlns:a16="http://schemas.microsoft.com/office/drawing/2014/main" id="{92A453B1-3A9D-414E-88B2-D4F6A0BB63B1}"/>
              </a:ext>
            </a:extLst>
          </p:cNvPr>
          <p:cNvSpPr>
            <a:spLocks xmlns:a="http://schemas.openxmlformats.org/drawingml/2006/main" noGrp="1"/>
          </p:cNvSpPr>
          <p:nvPr/>
        </p:nvSpPr>
        <p:spPr>
          <a:xfrm xmlns:a="http://schemas.openxmlformats.org/drawingml/2006/main">
            <a:off x="628650" y="31813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Le besoin</a:t>
            </a:r>
          </a:p>
        </p:txBody>
      </p:sp>
      <p:sp>
        <p:nvSpPr>
          <p:cNvPr id="7" name="Relier ses objectifs, ses repas et ses séance">
            <a:extLst xmlns:a="http://schemas.openxmlformats.org/drawingml/2006/main">
              <a:ext uri="{FF2B5EF4-FFF2-40B4-BE49-F238E27FC236}">
                <a16:creationId xmlns:a16="http://schemas.microsoft.com/office/drawing/2014/main" id="{CABA717E-77BF-4EB0-B538-78697B7E6664}"/>
              </a:ext>
            </a:extLst>
          </p:cNvPr>
          <p:cNvSpPr>
            <a:spLocks xmlns:a="http://schemas.openxmlformats.org/drawingml/2006/main" noGrp="1"/>
          </p:cNvSpPr>
          <p:nvPr/>
        </p:nvSpPr>
        <p:spPr>
          <a:xfrm xmlns:a="http://schemas.openxmlformats.org/drawingml/2006/main">
            <a:off x="628650" y="36385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Relier ses objectifs, ses repas et ses séances dans une même application.</a:t>
            </a:r>
          </a:p>
        </p:txBody>
      </p:sp>
      <p:sp>
        <p:nvSpPr>
          <p:cNvPr id="8" name="La contribution">
            <a:extLst xmlns:a="http://schemas.openxmlformats.org/drawingml/2006/main">
              <a:ext uri="{FF2B5EF4-FFF2-40B4-BE49-F238E27FC236}">
                <a16:creationId xmlns:a16="http://schemas.microsoft.com/office/drawing/2014/main" id="{1EEAAEB9-5F93-4D4D-8DC6-90715D13DFA7}"/>
              </a:ext>
            </a:extLst>
          </p:cNvPr>
          <p:cNvSpPr>
            <a:spLocks xmlns:a="http://schemas.openxmlformats.org/drawingml/2006/main" noGrp="1"/>
          </p:cNvSpPr>
          <p:nvPr/>
        </p:nvSpPr>
        <p:spPr>
          <a:xfrm xmlns:a="http://schemas.openxmlformats.org/drawingml/2006/main">
            <a:off x="6305550" y="31813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La contribution</a:t>
            </a:r>
          </a:p>
        </p:txBody>
      </p:sp>
      <p:sp>
        <p:nvSpPr>
          <p:cNvPr id="9" name="Calculer les cibles dans le code, puis utilis">
            <a:extLst xmlns:a="http://schemas.openxmlformats.org/drawingml/2006/main">
              <a:ext uri="{FF2B5EF4-FFF2-40B4-BE49-F238E27FC236}">
                <a16:creationId xmlns:a16="http://schemas.microsoft.com/office/drawing/2014/main" id="{D5E71B9A-4DC6-4498-935D-CCB99B54CFCA}"/>
              </a:ext>
            </a:extLst>
          </p:cNvPr>
          <p:cNvSpPr>
            <a:spLocks xmlns:a="http://schemas.openxmlformats.org/drawingml/2006/main" noGrp="1"/>
          </p:cNvSpPr>
          <p:nvPr/>
        </p:nvSpPr>
        <p:spPr>
          <a:xfrm xmlns:a="http://schemas.openxmlformats.org/drawingml/2006/main">
            <a:off x="6305550" y="3638550"/>
            <a:ext cx="5095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Calculer les cibles dans le code, puis utiliser l’IA pour expliquer et personnaliser le suivi.</a:t>
            </a:r>
          </a:p>
        </p:txBody>
      </p:sp>
    </p:spTree>
    <p:extLst>
      <p:ext uri="{BB962C8B-B14F-4D97-AF65-F5344CB8AC3E}">
        <p14:creationId xmlns:p14="http://schemas.microsoft.com/office/powerpoint/2010/main" val="517807645"/>
      </p:ext>
    </p:extLst>
  </p:cSld>
</p:sld>
</file>

<file path=ppt/slides/slide3.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Un compte pour chaque utilisateur">
            <a:extLst xmlns:a="http://schemas.openxmlformats.org/drawingml/2006/main">
              <a:ext uri="{FF2B5EF4-FFF2-40B4-BE49-F238E27FC236}">
                <a16:creationId xmlns:a16="http://schemas.microsoft.com/office/drawing/2014/main" id="{23BAFACD-5BEC-4D98-816F-8D1521945C8C}"/>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Un compte pour chaque utilisateur</a:t>
            </a:r>
          </a:p>
        </p:txBody>
      </p:sp>
      <p:sp>
        <p:nvSpPr>
          <p:cNvPr id="3" name="FitBot">
            <a:extLst xmlns:a="http://schemas.openxmlformats.org/drawingml/2006/main">
              <a:ext uri="{FF2B5EF4-FFF2-40B4-BE49-F238E27FC236}">
                <a16:creationId xmlns:a16="http://schemas.microsoft.com/office/drawing/2014/main" id="{DC2AF726-CAB7-4FA8-B0E3-7E50CAE80E5F}"/>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03">
            <a:extLst xmlns:a="http://schemas.openxmlformats.org/drawingml/2006/main">
              <a:ext uri="{FF2B5EF4-FFF2-40B4-BE49-F238E27FC236}">
                <a16:creationId xmlns:a16="http://schemas.microsoft.com/office/drawing/2014/main" id="{913F1D9B-D3C6-4AB7-B0DD-8F7646714925}"/>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03</a:t>
            </a:r>
          </a:p>
        </p:txBody>
      </p:sp>
      <p:sp>
        <p:nvSpPr>
          <p:cNvPr id="5" name="Inscription et connexion">
            <a:extLst xmlns:a="http://schemas.openxmlformats.org/drawingml/2006/main">
              <a:ext uri="{FF2B5EF4-FFF2-40B4-BE49-F238E27FC236}">
                <a16:creationId xmlns:a16="http://schemas.microsoft.com/office/drawing/2014/main" id="{A587DC2A-231F-4BF5-98EB-EE89D3F4A986}"/>
              </a:ext>
            </a:extLst>
          </p:cNvPr>
          <p:cNvSpPr>
            <a:spLocks xmlns:a="http://schemas.openxmlformats.org/drawingml/2006/main" noGrp="1"/>
          </p:cNvSpPr>
          <p:nvPr/>
        </p:nvSpPr>
        <p:spPr>
          <a:xfrm xmlns:a="http://schemas.openxmlformats.org/drawingml/2006/main">
            <a:off x="609600" y="19240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Inscription et connexion</a:t>
            </a:r>
          </a:p>
        </p:txBody>
      </p:sp>
      <p:sp>
        <p:nvSpPr>
          <p:cNvPr id="6" name="Email, mot de passe et accès aux pages protég">
            <a:extLst xmlns:a="http://schemas.openxmlformats.org/drawingml/2006/main">
              <a:ext uri="{FF2B5EF4-FFF2-40B4-BE49-F238E27FC236}">
                <a16:creationId xmlns:a16="http://schemas.microsoft.com/office/drawing/2014/main" id="{230279BD-1759-43EA-AD50-CFDD61752C47}"/>
              </a:ext>
            </a:extLst>
          </p:cNvPr>
          <p:cNvSpPr>
            <a:spLocks xmlns:a="http://schemas.openxmlformats.org/drawingml/2006/main" noGrp="1"/>
          </p:cNvSpPr>
          <p:nvPr/>
        </p:nvSpPr>
        <p:spPr>
          <a:xfrm xmlns:a="http://schemas.openxmlformats.org/drawingml/2006/main">
            <a:off x="609600" y="23812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Email, mot de passe et accès aux pages protégées.</a:t>
            </a:r>
          </a:p>
        </p:txBody>
      </p:sp>
      <p:sp>
        <p:nvSpPr>
          <p:cNvPr id="7" name="Données personnelles">
            <a:extLst xmlns:a="http://schemas.openxmlformats.org/drawingml/2006/main">
              <a:ext uri="{FF2B5EF4-FFF2-40B4-BE49-F238E27FC236}">
                <a16:creationId xmlns:a16="http://schemas.microsoft.com/office/drawing/2014/main" id="{0E818F61-6739-44CA-88CC-DEED31EA3A10}"/>
              </a:ext>
            </a:extLst>
          </p:cNvPr>
          <p:cNvSpPr>
            <a:spLocks xmlns:a="http://schemas.openxmlformats.org/drawingml/2006/main" noGrp="1"/>
          </p:cNvSpPr>
          <p:nvPr/>
        </p:nvSpPr>
        <p:spPr>
          <a:xfrm xmlns:a="http://schemas.openxmlformats.org/drawingml/2006/main">
            <a:off x="609600" y="38766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Données personnelles</a:t>
            </a:r>
          </a:p>
        </p:txBody>
      </p:sp>
      <p:sp>
        <p:nvSpPr>
          <p:cNvPr id="8" name="Profil, conversations, repas et séances reste">
            <a:extLst xmlns:a="http://schemas.openxmlformats.org/drawingml/2006/main">
              <a:ext uri="{FF2B5EF4-FFF2-40B4-BE49-F238E27FC236}">
                <a16:creationId xmlns:a16="http://schemas.microsoft.com/office/drawing/2014/main" id="{0812C7A1-0604-41FB-A34B-D3BB8E816DEE}"/>
              </a:ext>
            </a:extLst>
          </p:cNvPr>
          <p:cNvSpPr>
            <a:spLocks xmlns:a="http://schemas.openxmlformats.org/drawingml/2006/main" noGrp="1"/>
          </p:cNvSpPr>
          <p:nvPr/>
        </p:nvSpPr>
        <p:spPr>
          <a:xfrm xmlns:a="http://schemas.openxmlformats.org/drawingml/2006/main">
            <a:off x="609600" y="4333875"/>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Profil, conversations, repas et séances restent liés au compte connecté.</a:t>
            </a:r>
          </a:p>
        </p:txBody>
      </p:sp>
      <p:pic>
        <p:nvPicPr>
          <p:cNvPr id="9" name="">
            <a:extLst xmlns:a="http://schemas.openxmlformats.org/drawingml/2006/main">
              <a:ext uri="{FF2B5EF4-FFF2-40B4-BE49-F238E27FC236}">
                <a16:creationId xmlns:a16="http://schemas.microsoft.com/office/drawing/2014/main" id="{CBAE3820-B10C-42E0-A901-6F10087553C0}"/>
              </a:ext>
            </a:extLst>
          </p:cNvPr>
          <p:cNvPicPr>
            <a:picLocks xmlns:a="http://schemas.openxmlformats.org/drawingml/2006/main" noChangeAspect="1"/>
          </p:cNvPicPr>
          <p:nvPr/>
        </p:nvPicPr>
        <p:blipFill>
          <a:blip xmlns:r="http://schemas.openxmlformats.org/officeDocument/2006/relationships" xmlns:a="http://schemas.openxmlformats.org/drawingml/2006/main" r:embed="R88b0caa933f04f88"/>
          <a:stretch xmlns:a="http://schemas.openxmlformats.org/drawingml/2006/main"/>
        </p:blipFill>
        <p:spPr>
          <a:xfrm xmlns:a="http://schemas.openxmlformats.org/drawingml/2006/main">
            <a:off x="4207111" y="1495425"/>
            <a:ext cx="7368702" cy="4810125"/>
          </a:xfrm>
          <a:prstGeom xmlns:a="http://schemas.openxmlformats.org/drawingml/2006/main" prst="rect">
            <a:avLst/>
          </a:prstGeom>
        </p:spPr>
      </p:pic>
    </p:spTree>
    <p:extLst>
      <p:ext uri="{BB962C8B-B14F-4D97-AF65-F5344CB8AC3E}">
        <p14:creationId xmlns:p14="http://schemas.microsoft.com/office/powerpoint/2010/main" val="255039162"/>
      </p:ext>
    </p:extLst>
  </p:cSld>
</p:sld>
</file>

<file path=ppt/slides/slide4.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e tableau de bord quotidien">
            <a:extLst xmlns:a="http://schemas.openxmlformats.org/drawingml/2006/main">
              <a:ext uri="{FF2B5EF4-FFF2-40B4-BE49-F238E27FC236}">
                <a16:creationId xmlns:a16="http://schemas.microsoft.com/office/drawing/2014/main" id="{E49694D8-2A50-4814-A1C5-0BB0EF17EB7B}"/>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Le tableau de bord quotidien</a:t>
            </a:r>
          </a:p>
        </p:txBody>
      </p:sp>
      <p:sp>
        <p:nvSpPr>
          <p:cNvPr id="3" name="FitBot">
            <a:extLst xmlns:a="http://schemas.openxmlformats.org/drawingml/2006/main">
              <a:ext uri="{FF2B5EF4-FFF2-40B4-BE49-F238E27FC236}">
                <a16:creationId xmlns:a16="http://schemas.microsoft.com/office/drawing/2014/main" id="{6BB83553-3F59-44D2-8869-D0528B42BF8D}"/>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04">
            <a:extLst xmlns:a="http://schemas.openxmlformats.org/drawingml/2006/main">
              <a:ext uri="{FF2B5EF4-FFF2-40B4-BE49-F238E27FC236}">
                <a16:creationId xmlns:a16="http://schemas.microsoft.com/office/drawing/2014/main" id="{6FFDDBE4-DD07-4BAE-83B0-29BA37142883}"/>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04</a:t>
            </a:r>
          </a:p>
        </p:txBody>
      </p:sp>
      <p:sp>
        <p:nvSpPr>
          <p:cNvPr id="5" name="Une vue d’ensemble">
            <a:extLst xmlns:a="http://schemas.openxmlformats.org/drawingml/2006/main">
              <a:ext uri="{FF2B5EF4-FFF2-40B4-BE49-F238E27FC236}">
                <a16:creationId xmlns:a16="http://schemas.microsoft.com/office/drawing/2014/main" id="{4742778F-C6EA-46D6-8412-503657BEC1B0}"/>
              </a:ext>
            </a:extLst>
          </p:cNvPr>
          <p:cNvSpPr>
            <a:spLocks xmlns:a="http://schemas.openxmlformats.org/drawingml/2006/main" noGrp="1"/>
          </p:cNvSpPr>
          <p:nvPr/>
        </p:nvSpPr>
        <p:spPr>
          <a:xfrm xmlns:a="http://schemas.openxmlformats.org/drawingml/2006/main">
            <a:off x="609600" y="19240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Une vue d’ensemble</a:t>
            </a:r>
          </a:p>
        </p:txBody>
      </p:sp>
      <p:sp>
        <p:nvSpPr>
          <p:cNvPr id="6" name="Objectif calorique, macros, prochaine séance ">
            <a:extLst xmlns:a="http://schemas.openxmlformats.org/drawingml/2006/main">
              <a:ext uri="{FF2B5EF4-FFF2-40B4-BE49-F238E27FC236}">
                <a16:creationId xmlns:a16="http://schemas.microsoft.com/office/drawing/2014/main" id="{07C781A3-BA9D-41B8-9705-748F8A6EDC4F}"/>
              </a:ext>
            </a:extLst>
          </p:cNvPr>
          <p:cNvSpPr>
            <a:spLocks xmlns:a="http://schemas.openxmlformats.org/drawingml/2006/main" noGrp="1"/>
          </p:cNvSpPr>
          <p:nvPr/>
        </p:nvSpPr>
        <p:spPr>
          <a:xfrm xmlns:a="http://schemas.openxmlformats.org/drawingml/2006/main">
            <a:off x="609600" y="23812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Objectif calorique, macros, prochaine séance et volume hebdomadaire.</a:t>
            </a:r>
          </a:p>
        </p:txBody>
      </p:sp>
      <p:sp>
        <p:nvSpPr>
          <p:cNvPr id="7" name="Des raccourcis utiles">
            <a:extLst xmlns:a="http://schemas.openxmlformats.org/drawingml/2006/main">
              <a:ext uri="{FF2B5EF4-FFF2-40B4-BE49-F238E27FC236}">
                <a16:creationId xmlns:a16="http://schemas.microsoft.com/office/drawing/2014/main" id="{94A52CFB-D104-471A-BBF9-4D152C0D3977}"/>
              </a:ext>
            </a:extLst>
          </p:cNvPr>
          <p:cNvSpPr>
            <a:spLocks xmlns:a="http://schemas.openxmlformats.org/drawingml/2006/main" noGrp="1"/>
          </p:cNvSpPr>
          <p:nvPr/>
        </p:nvSpPr>
        <p:spPr>
          <a:xfrm xmlns:a="http://schemas.openxmlformats.org/drawingml/2006/main">
            <a:off x="609600" y="38766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Des raccourcis utiles</a:t>
            </a:r>
          </a:p>
        </p:txBody>
      </p:sp>
      <p:sp>
        <p:nvSpPr>
          <p:cNvPr id="8" name="Accès direct au programme, au suivi et au coa">
            <a:extLst xmlns:a="http://schemas.openxmlformats.org/drawingml/2006/main">
              <a:ext uri="{FF2B5EF4-FFF2-40B4-BE49-F238E27FC236}">
                <a16:creationId xmlns:a16="http://schemas.microsoft.com/office/drawing/2014/main" id="{42E2AADC-385C-458B-A886-943E8DF29132}"/>
              </a:ext>
            </a:extLst>
          </p:cNvPr>
          <p:cNvSpPr>
            <a:spLocks xmlns:a="http://schemas.openxmlformats.org/drawingml/2006/main" noGrp="1"/>
          </p:cNvSpPr>
          <p:nvPr/>
        </p:nvSpPr>
        <p:spPr>
          <a:xfrm xmlns:a="http://schemas.openxmlformats.org/drawingml/2006/main">
            <a:off x="609600" y="4333875"/>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Accès direct au programme, au suivi et au coach.</a:t>
            </a:r>
          </a:p>
        </p:txBody>
      </p:sp>
      <p:pic>
        <p:nvPicPr>
          <p:cNvPr id="9" name="">
            <a:extLst xmlns:a="http://schemas.openxmlformats.org/drawingml/2006/main">
              <a:ext uri="{FF2B5EF4-FFF2-40B4-BE49-F238E27FC236}">
                <a16:creationId xmlns:a16="http://schemas.microsoft.com/office/drawing/2014/main" id="{15741444-5523-4446-BE26-59F8156FF55B}"/>
              </a:ext>
            </a:extLst>
          </p:cNvPr>
          <p:cNvPicPr>
            <a:picLocks xmlns:a="http://schemas.openxmlformats.org/drawingml/2006/main" noChangeAspect="1"/>
          </p:cNvPicPr>
          <p:nvPr/>
        </p:nvPicPr>
        <p:blipFill>
          <a:blip xmlns:r="http://schemas.openxmlformats.org/officeDocument/2006/relationships" xmlns:a="http://schemas.openxmlformats.org/drawingml/2006/main" r:embed="Rca7115c2a91748e2"/>
          <a:stretch xmlns:a="http://schemas.openxmlformats.org/drawingml/2006/main"/>
        </p:blipFill>
        <p:spPr>
          <a:xfrm xmlns:a="http://schemas.openxmlformats.org/drawingml/2006/main">
            <a:off x="4207111" y="1495425"/>
            <a:ext cx="7368702" cy="4810125"/>
          </a:xfrm>
          <a:prstGeom xmlns:a="http://schemas.openxmlformats.org/drawingml/2006/main" prst="rect">
            <a:avLst/>
          </a:prstGeom>
        </p:spPr>
      </p:pic>
    </p:spTree>
    <p:extLst>
      <p:ext uri="{BB962C8B-B14F-4D97-AF65-F5344CB8AC3E}">
        <p14:creationId xmlns:p14="http://schemas.microsoft.com/office/powerpoint/2010/main" val="416329490"/>
      </p:ext>
    </p:extLst>
  </p:cSld>
</p:sld>
</file>

<file path=ppt/slides/slide5.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Profil et questionnaire de morphologie">
            <a:extLst xmlns:a="http://schemas.openxmlformats.org/drawingml/2006/main">
              <a:ext uri="{FF2B5EF4-FFF2-40B4-BE49-F238E27FC236}">
                <a16:creationId xmlns:a16="http://schemas.microsoft.com/office/drawing/2014/main" id="{8AFE8FF4-C2AE-43AF-BFEE-1C7DE618289B}"/>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Profil et questionnaire de morphologie</a:t>
            </a:r>
          </a:p>
        </p:txBody>
      </p:sp>
      <p:sp>
        <p:nvSpPr>
          <p:cNvPr id="3" name="FitBot">
            <a:extLst xmlns:a="http://schemas.openxmlformats.org/drawingml/2006/main">
              <a:ext uri="{FF2B5EF4-FFF2-40B4-BE49-F238E27FC236}">
                <a16:creationId xmlns:a16="http://schemas.microsoft.com/office/drawing/2014/main" id="{429E65C9-9945-4364-94E6-77DA1DCC42C2}"/>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05">
            <a:extLst xmlns:a="http://schemas.openxmlformats.org/drawingml/2006/main">
              <a:ext uri="{FF2B5EF4-FFF2-40B4-BE49-F238E27FC236}">
                <a16:creationId xmlns:a16="http://schemas.microsoft.com/office/drawing/2014/main" id="{22865397-F542-4BA3-98F4-39388EF7C911}"/>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05</a:t>
            </a:r>
          </a:p>
        </p:txBody>
      </p:sp>
      <p:sp>
        <p:nvSpPr>
          <p:cNvPr id="5" name="Un profil renseigné">
            <a:extLst xmlns:a="http://schemas.openxmlformats.org/drawingml/2006/main">
              <a:ext uri="{FF2B5EF4-FFF2-40B4-BE49-F238E27FC236}">
                <a16:creationId xmlns:a16="http://schemas.microsoft.com/office/drawing/2014/main" id="{738D95B8-69BC-44C1-B729-B9F44151F1EE}"/>
              </a:ext>
            </a:extLst>
          </p:cNvPr>
          <p:cNvSpPr>
            <a:spLocks xmlns:a="http://schemas.openxmlformats.org/drawingml/2006/main" noGrp="1"/>
          </p:cNvSpPr>
          <p:nvPr/>
        </p:nvSpPr>
        <p:spPr>
          <a:xfrm xmlns:a="http://schemas.openxmlformats.org/drawingml/2006/main">
            <a:off x="609600" y="19240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 profil renseigné</a:t>
            </a:r>
          </a:p>
        </p:txBody>
      </p:sp>
      <p:sp>
        <p:nvSpPr>
          <p:cNvPr id="6" name="Âge, taille, poids, niveau et objectif serven">
            <a:extLst xmlns:a="http://schemas.openxmlformats.org/drawingml/2006/main">
              <a:ext uri="{FF2B5EF4-FFF2-40B4-BE49-F238E27FC236}">
                <a16:creationId xmlns:a16="http://schemas.microsoft.com/office/drawing/2014/main" id="{0ED317C2-A673-4DE5-B38A-04612B0AB70A}"/>
              </a:ext>
            </a:extLst>
          </p:cNvPr>
          <p:cNvSpPr>
            <a:spLocks xmlns:a="http://schemas.openxmlformats.org/drawingml/2006/main" noGrp="1"/>
          </p:cNvSpPr>
          <p:nvPr/>
        </p:nvSpPr>
        <p:spPr>
          <a:xfrm xmlns:a="http://schemas.openxmlformats.org/drawingml/2006/main">
            <a:off x="609600" y="2381250"/>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Âge, taille, poids, niveau et objectif servent aux calculs.</a:t>
            </a:r>
          </a:p>
        </p:txBody>
      </p:sp>
      <p:sp>
        <p:nvSpPr>
          <p:cNvPr id="7" name="Un questionnaire indicatif">
            <a:extLst xmlns:a="http://schemas.openxmlformats.org/drawingml/2006/main">
              <a:ext uri="{FF2B5EF4-FFF2-40B4-BE49-F238E27FC236}">
                <a16:creationId xmlns:a16="http://schemas.microsoft.com/office/drawing/2014/main" id="{A07E134D-2EE8-4DE9-B234-9C3246B0C09C}"/>
              </a:ext>
            </a:extLst>
          </p:cNvPr>
          <p:cNvSpPr>
            <a:spLocks xmlns:a="http://schemas.openxmlformats.org/drawingml/2006/main" noGrp="1"/>
          </p:cNvSpPr>
          <p:nvPr/>
        </p:nvSpPr>
        <p:spPr>
          <a:xfrm xmlns:a="http://schemas.openxmlformats.org/drawingml/2006/main">
            <a:off x="609600" y="3876675"/>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 questionnaire indicatif</a:t>
            </a:r>
          </a:p>
        </p:txBody>
      </p:sp>
      <p:sp>
        <p:nvSpPr>
          <p:cNvPr id="8" name="Cinq réponses alimentent un score et une synt">
            <a:extLst xmlns:a="http://schemas.openxmlformats.org/drawingml/2006/main">
              <a:ext uri="{FF2B5EF4-FFF2-40B4-BE49-F238E27FC236}">
                <a16:creationId xmlns:a16="http://schemas.microsoft.com/office/drawing/2014/main" id="{9A9E4DE5-EF81-421C-8145-13022AC297B5}"/>
              </a:ext>
            </a:extLst>
          </p:cNvPr>
          <p:cNvSpPr>
            <a:spLocks xmlns:a="http://schemas.openxmlformats.org/drawingml/2006/main" noGrp="1"/>
          </p:cNvSpPr>
          <p:nvPr/>
        </p:nvSpPr>
        <p:spPr>
          <a:xfrm xmlns:a="http://schemas.openxmlformats.org/drawingml/2006/main">
            <a:off x="609600" y="433387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Cinq réponses alimentent un score et une synthèse IA. Ce résultat reste une heuristique.</a:t>
            </a:r>
          </a:p>
        </p:txBody>
      </p:sp>
      <p:pic>
        <p:nvPicPr>
          <p:cNvPr id="9" name="">
            <a:extLst xmlns:a="http://schemas.openxmlformats.org/drawingml/2006/main">
              <a:ext uri="{FF2B5EF4-FFF2-40B4-BE49-F238E27FC236}">
                <a16:creationId xmlns:a16="http://schemas.microsoft.com/office/drawing/2014/main" id="{D7D92DDB-E133-42D6-8749-97E704CC46A6}"/>
              </a:ext>
            </a:extLst>
          </p:cNvPr>
          <p:cNvPicPr>
            <a:picLocks xmlns:a="http://schemas.openxmlformats.org/drawingml/2006/main" noChangeAspect="1"/>
          </p:cNvPicPr>
          <p:nvPr/>
        </p:nvPicPr>
        <p:blipFill>
          <a:blip xmlns:r="http://schemas.openxmlformats.org/officeDocument/2006/relationships" xmlns:a="http://schemas.openxmlformats.org/drawingml/2006/main" r:embed="Rb5f7378249df47bd"/>
          <a:stretch xmlns:a="http://schemas.openxmlformats.org/drawingml/2006/main"/>
        </p:blipFill>
        <p:spPr>
          <a:xfrm xmlns:a="http://schemas.openxmlformats.org/drawingml/2006/main">
            <a:off x="6576040" y="1466850"/>
            <a:ext cx="4431071" cy="4829175"/>
          </a:xfrm>
          <a:prstGeom xmlns:a="http://schemas.openxmlformats.org/drawingml/2006/main" prst="rect">
            <a:avLst/>
          </a:prstGeom>
        </p:spPr>
      </p:pic>
    </p:spTree>
    <p:extLst>
      <p:ext uri="{BB962C8B-B14F-4D97-AF65-F5344CB8AC3E}">
        <p14:creationId xmlns:p14="http://schemas.microsoft.com/office/powerpoint/2010/main" val="1940055495"/>
      </p:ext>
    </p:extLst>
  </p:cSld>
</p:sld>
</file>

<file path=ppt/slides/slide6.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e bilan Athlete Blueprint">
            <a:extLst xmlns:a="http://schemas.openxmlformats.org/drawingml/2006/main">
              <a:ext uri="{FF2B5EF4-FFF2-40B4-BE49-F238E27FC236}">
                <a16:creationId xmlns:a16="http://schemas.microsoft.com/office/drawing/2014/main" id="{3844057C-48CE-448E-8021-EA5125DC582E}"/>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Le bilan Athlete Blueprint</a:t>
            </a:r>
          </a:p>
        </p:txBody>
      </p:sp>
      <p:sp>
        <p:nvSpPr>
          <p:cNvPr id="3" name="FitBot">
            <a:extLst xmlns:a="http://schemas.openxmlformats.org/drawingml/2006/main">
              <a:ext uri="{FF2B5EF4-FFF2-40B4-BE49-F238E27FC236}">
                <a16:creationId xmlns:a16="http://schemas.microsoft.com/office/drawing/2014/main" id="{F3BD2BE5-158B-4305-A6B2-928C903C0952}"/>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06">
            <a:extLst xmlns:a="http://schemas.openxmlformats.org/drawingml/2006/main">
              <a:ext uri="{FF2B5EF4-FFF2-40B4-BE49-F238E27FC236}">
                <a16:creationId xmlns:a16="http://schemas.microsoft.com/office/drawing/2014/main" id="{3290CB4A-57A5-4D4A-BBB1-C56644F5F0EB}"/>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06</a:t>
            </a:r>
          </a:p>
        </p:txBody>
      </p:sp>
      <p:sp>
        <p:nvSpPr>
          <p:cNvPr id="5" name="Une synthèse personnalisée">
            <a:extLst xmlns:a="http://schemas.openxmlformats.org/drawingml/2006/main">
              <a:ext uri="{FF2B5EF4-FFF2-40B4-BE49-F238E27FC236}">
                <a16:creationId xmlns:a16="http://schemas.microsoft.com/office/drawing/2014/main" id="{11C5B772-8B51-4572-9C86-5495AB485618}"/>
              </a:ext>
            </a:extLst>
          </p:cNvPr>
          <p:cNvSpPr>
            <a:spLocks xmlns:a="http://schemas.openxmlformats.org/drawingml/2006/main" noGrp="1"/>
          </p:cNvSpPr>
          <p:nvPr/>
        </p:nvSpPr>
        <p:spPr>
          <a:xfrm xmlns:a="http://schemas.openxmlformats.org/drawingml/2006/main">
            <a:off x="609600" y="19240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Une synthèse personnalisée</a:t>
            </a:r>
          </a:p>
        </p:txBody>
      </p:sp>
      <p:sp>
        <p:nvSpPr>
          <p:cNvPr id="6" name="Points d’attention, repères de volume et étap">
            <a:extLst xmlns:a="http://schemas.openxmlformats.org/drawingml/2006/main">
              <a:ext uri="{FF2B5EF4-FFF2-40B4-BE49-F238E27FC236}">
                <a16:creationId xmlns:a16="http://schemas.microsoft.com/office/drawing/2014/main" id="{435E6CBB-7D6C-416F-8CD8-11AB467BB50A}"/>
              </a:ext>
            </a:extLst>
          </p:cNvPr>
          <p:cNvSpPr>
            <a:spLocks xmlns:a="http://schemas.openxmlformats.org/drawingml/2006/main" noGrp="1"/>
          </p:cNvSpPr>
          <p:nvPr/>
        </p:nvSpPr>
        <p:spPr>
          <a:xfrm xmlns:a="http://schemas.openxmlformats.org/drawingml/2006/main">
            <a:off x="609600" y="2381250"/>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Points d’attention, repères de volume et étapes proposées.</a:t>
            </a:r>
          </a:p>
        </p:txBody>
      </p:sp>
      <p:sp>
        <p:nvSpPr>
          <p:cNvPr id="7" name="Des chiffres séparés du texte">
            <a:extLst xmlns:a="http://schemas.openxmlformats.org/drawingml/2006/main">
              <a:ext uri="{FF2B5EF4-FFF2-40B4-BE49-F238E27FC236}">
                <a16:creationId xmlns:a16="http://schemas.microsoft.com/office/drawing/2014/main" id="{E788F278-8569-4574-AAD1-657C4DB9754F}"/>
              </a:ext>
            </a:extLst>
          </p:cNvPr>
          <p:cNvSpPr>
            <a:spLocks xmlns:a="http://schemas.openxmlformats.org/drawingml/2006/main" noGrp="1"/>
          </p:cNvSpPr>
          <p:nvPr/>
        </p:nvSpPr>
        <p:spPr>
          <a:xfrm xmlns:a="http://schemas.openxmlformats.org/drawingml/2006/main">
            <a:off x="609600" y="3876675"/>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Des chiffres séparés du texte</a:t>
            </a:r>
          </a:p>
        </p:txBody>
      </p:sp>
      <p:sp>
        <p:nvSpPr>
          <p:cNvPr id="8" name="BMI, BMR, TDEE et macros viennent des formule">
            <a:extLst xmlns:a="http://schemas.openxmlformats.org/drawingml/2006/main">
              <a:ext uri="{FF2B5EF4-FFF2-40B4-BE49-F238E27FC236}">
                <a16:creationId xmlns:a16="http://schemas.microsoft.com/office/drawing/2014/main" id="{2A2A8C8E-B1AC-4359-AC7A-6A4A27A71403}"/>
              </a:ext>
            </a:extLst>
          </p:cNvPr>
          <p:cNvSpPr>
            <a:spLocks xmlns:a="http://schemas.openxmlformats.org/drawingml/2006/main" noGrp="1"/>
          </p:cNvSpPr>
          <p:nvPr/>
        </p:nvSpPr>
        <p:spPr>
          <a:xfrm xmlns:a="http://schemas.openxmlformats.org/drawingml/2006/main">
            <a:off x="609600" y="433387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BMI, BMR, TDEE et macros viennent des formules Python. Le bilan reste indicatif.</a:t>
            </a:r>
          </a:p>
        </p:txBody>
      </p:sp>
      <p:pic>
        <p:nvPicPr>
          <p:cNvPr id="9" name="">
            <a:extLst xmlns:a="http://schemas.openxmlformats.org/drawingml/2006/main">
              <a:ext uri="{FF2B5EF4-FFF2-40B4-BE49-F238E27FC236}">
                <a16:creationId xmlns:a16="http://schemas.microsoft.com/office/drawing/2014/main" id="{73156205-CEF7-4281-AAE1-9C0C7565315E}"/>
              </a:ext>
            </a:extLst>
          </p:cNvPr>
          <p:cNvPicPr>
            <a:picLocks xmlns:a="http://schemas.openxmlformats.org/drawingml/2006/main" noChangeAspect="1"/>
          </p:cNvPicPr>
          <p:nvPr/>
        </p:nvPicPr>
        <p:blipFill>
          <a:blip xmlns:r="http://schemas.openxmlformats.org/officeDocument/2006/relationships" xmlns:a="http://schemas.openxmlformats.org/drawingml/2006/main" r:embed="Rc30a2ad88dfe4efc"/>
          <a:stretch xmlns:a="http://schemas.openxmlformats.org/drawingml/2006/main"/>
        </p:blipFill>
        <p:spPr>
          <a:xfrm xmlns:a="http://schemas.openxmlformats.org/drawingml/2006/main">
            <a:off x="6827165" y="1466850"/>
            <a:ext cx="3928820" cy="4829175"/>
          </a:xfrm>
          <a:prstGeom xmlns:a="http://schemas.openxmlformats.org/drawingml/2006/main" prst="rect">
            <a:avLst/>
          </a:prstGeom>
        </p:spPr>
      </p:pic>
    </p:spTree>
    <p:extLst>
      <p:ext uri="{BB962C8B-B14F-4D97-AF65-F5344CB8AC3E}">
        <p14:creationId xmlns:p14="http://schemas.microsoft.com/office/powerpoint/2010/main" val="107545818"/>
      </p:ext>
    </p:extLst>
  </p:cSld>
</p:sld>
</file>

<file path=ppt/slides/slide7.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architecture du projet">
            <a:extLst xmlns:a="http://schemas.openxmlformats.org/drawingml/2006/main">
              <a:ext uri="{FF2B5EF4-FFF2-40B4-BE49-F238E27FC236}">
                <a16:creationId xmlns:a16="http://schemas.microsoft.com/office/drawing/2014/main" id="{43F3ABFB-9ACB-4979-9576-84A2D2AA01F5}"/>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L’architecture du projet</a:t>
            </a:r>
          </a:p>
        </p:txBody>
      </p:sp>
      <p:sp>
        <p:nvSpPr>
          <p:cNvPr id="3" name="FitBot">
            <a:extLst xmlns:a="http://schemas.openxmlformats.org/drawingml/2006/main">
              <a:ext uri="{FF2B5EF4-FFF2-40B4-BE49-F238E27FC236}">
                <a16:creationId xmlns:a16="http://schemas.microsoft.com/office/drawing/2014/main" id="{731C06FD-14ED-4DA4-A9B8-1D5E8DC32091}"/>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07">
            <a:extLst xmlns:a="http://schemas.openxmlformats.org/drawingml/2006/main">
              <a:ext uri="{FF2B5EF4-FFF2-40B4-BE49-F238E27FC236}">
                <a16:creationId xmlns:a16="http://schemas.microsoft.com/office/drawing/2014/main" id="{D04BD13F-CFE0-48AE-91EC-57685C201432}"/>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07</a:t>
            </a:r>
          </a:p>
        </p:txBody>
      </p:sp>
      <p:graphicFrame>
        <p:nvGraphicFramePr>
          <p:cNvPr id="5" name="">
            <a:extLst xmlns:a="http://schemas.openxmlformats.org/drawingml/2006/main">
              <a:ext uri="{FF2B5EF4-FFF2-40B4-BE49-F238E27FC236}">
                <a16:creationId xmlns:a16="http://schemas.microsoft.com/office/drawing/2014/main" id="{F56D5CF8-D856-428B-B8E3-92510302E874}"/>
              </a:ext>
            </a:extLst>
          </p:cNvPr>
          <p:cNvGraphicFramePr/>
          <p:nvPr/>
        </p:nvGraphicFramePr>
        <p:xfrm>
          <a:off xmlns:a="http://schemas.openxmlformats.org/drawingml/2006/main" x="609600" y="1743075"/>
          <a:ext xmlns:a="http://schemas.openxmlformats.org/drawingml/2006/main" cx="10972800" cy="3905250"/>
        </p:xfrm>
        <a:graphic xmlns:a="http://schemas.openxmlformats.org/drawingml/2006/main">
          <a:graphicData uri="http://schemas.openxmlformats.org/drawingml/2006/table">
            <a:tbl>
              <a:tblPr/>
              <a:tblGrid>
                <a:gridCol w="3476625"/>
                <a:gridCol w="7496175"/>
              </a:tblGrid>
              <a:tr h="650875">
                <a:tc>
                  <a:txBody>
                    <a:bodyPr/>
                    <a:lstStyle/>
                    <a:p>
                      <a:r>
                        <a:rPr sz="1875" b="1">
                          <a:solidFill>
                            <a:srgbClr val="70E4CE"/>
                          </a:solidFill>
                        </a:rPr>
                        <a:t>Couche</a:t>
                      </a:r>
                    </a:p>
                  </a:txBody>
                  <a:tcPr marL="171450" marR="171450" marT="114300" marB="114300" anchor="ctr">
                    <a:lnL w="9525">
                      <a:solidFill>
                        <a:srgbClr val="2B3A50"/>
                      </a:solidFill>
                      <a:prstDash val="solid"/>
                    </a:lnL>
                    <a:lnR w="9525">
                      <a:solidFill>
                        <a:srgbClr val="2B3A50"/>
                      </a:solidFill>
                      <a:prstDash val="solid"/>
                    </a:lnR>
                    <a:lnT w="9525">
                      <a:solidFill>
                        <a:srgbClr val="2B3A50"/>
                      </a:solidFill>
                      <a:prstDash val="solid"/>
                    </a:lnT>
                    <a:lnB w="9525">
                      <a:solidFill>
                        <a:srgbClr val="2B3A50"/>
                      </a:solidFill>
                      <a:prstDash val="solid"/>
                    </a:lnB>
                    <a:solidFill>
                      <a:srgbClr val="0C1422"/>
                    </a:solidFill>
                  </a:tcPr>
                </a:tc>
                <a:tc>
                  <a:txBody>
                    <a:bodyPr/>
                    <a:lstStyle/>
                    <a:p>
                      <a:r>
                        <a:rPr sz="1875" b="1">
                          <a:solidFill>
                            <a:srgbClr val="70E4CE"/>
                          </a:solidFill>
                        </a:rPr>
                        <a:t>Rôle dans FitBot</a:t>
                      </a:r>
                    </a:p>
                  </a:txBody>
                  <a:tcPr marL="171450" marR="171450" marT="114300" marB="114300" anchor="ctr">
                    <a:lnR w="9525">
                      <a:solidFill>
                        <a:srgbClr val="2B3A50"/>
                      </a:solidFill>
                      <a:prstDash val="solid"/>
                    </a:lnR>
                    <a:lnT w="9525">
                      <a:solidFill>
                        <a:srgbClr val="2B3A50"/>
                      </a:solidFill>
                      <a:prstDash val="solid"/>
                    </a:lnT>
                    <a:lnB w="9525">
                      <a:solidFill>
                        <a:srgbClr val="2B3A50"/>
                      </a:solidFill>
                      <a:prstDash val="solid"/>
                    </a:lnB>
                    <a:solidFill>
                      <a:srgbClr val="0C1422"/>
                    </a:solidFill>
                  </a:tcPr>
                </a:tc>
              </a:tr>
              <a:tr h="650875">
                <a:tc>
                  <a:txBody>
                    <a:bodyPr/>
                    <a:lstStyle/>
                    <a:p>
                      <a:r>
                        <a:rPr sz="1800" b="1">
                          <a:solidFill>
                            <a:srgbClr val="F7FAFC"/>
                          </a:solidFill>
                        </a:rPr>
                        <a:t>React 19 et Vite</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Interfaces, formulaires et affichage du flux de réponse</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r h="650875">
                <a:tc>
                  <a:txBody>
                    <a:bodyPr/>
                    <a:lstStyle/>
                    <a:p>
                      <a:r>
                        <a:rPr sz="1800" b="1">
                          <a:solidFill>
                            <a:srgbClr val="F7FAFC"/>
                          </a:solidFill>
                        </a:rPr>
                        <a:t>FastAPI</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Authentification, calculs et orchestration des modules IA</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r h="650875">
                <a:tc>
                  <a:txBody>
                    <a:bodyPr/>
                    <a:lstStyle/>
                    <a:p>
                      <a:r>
                        <a:rPr sz="1800" b="1">
                          <a:solidFill>
                            <a:srgbClr val="F7FAFC"/>
                          </a:solidFill>
                        </a:rPr>
                        <a:t>PostgreSQL</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Comptes et données personnelles, avec migrations Alembic</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r h="650875">
                <a:tc>
                  <a:txBody>
                    <a:bodyPr/>
                    <a:lstStyle/>
                    <a:p>
                      <a:r>
                        <a:rPr sz="1800" b="1">
                          <a:solidFill>
                            <a:srgbClr val="F7FAFC"/>
                          </a:solidFill>
                        </a:rPr>
                        <a:t>FAISS et embeddings locaux</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Recherche de passages dans les PDF, par catégorie</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r h="650875">
                <a:tc>
                  <a:txBody>
                    <a:bodyPr/>
                    <a:lstStyle/>
                    <a:p>
                      <a:r>
                        <a:rPr sz="1800" b="1">
                          <a:solidFill>
                            <a:srgbClr val="F7FAFC"/>
                          </a:solidFill>
                        </a:rPr>
                        <a:t>Gemini</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Génération de texte et analyse d’une photo de repas</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bl>
          </a:graphicData>
        </a:graphic>
      </p:graphicFrame>
    </p:spTree>
    <p:extLst>
      <p:ext uri="{BB962C8B-B14F-4D97-AF65-F5344CB8AC3E}">
        <p14:creationId xmlns:p14="http://schemas.microsoft.com/office/powerpoint/2010/main" val="36424431"/>
      </p:ext>
    </p:extLst>
  </p:cSld>
</p:sld>
</file>

<file path=ppt/slides/slide8.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e coach conversationnel RAG">
            <a:extLst xmlns:a="http://schemas.openxmlformats.org/drawingml/2006/main">
              <a:ext uri="{FF2B5EF4-FFF2-40B4-BE49-F238E27FC236}">
                <a16:creationId xmlns:a16="http://schemas.microsoft.com/office/drawing/2014/main" id="{5783B784-BC3B-4AF7-A23B-93EC59D9F38C}"/>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Le coach conversationnel RAG</a:t>
            </a:r>
          </a:p>
        </p:txBody>
      </p:sp>
      <p:sp>
        <p:nvSpPr>
          <p:cNvPr id="3" name="FitBot">
            <a:extLst xmlns:a="http://schemas.openxmlformats.org/drawingml/2006/main">
              <a:ext uri="{FF2B5EF4-FFF2-40B4-BE49-F238E27FC236}">
                <a16:creationId xmlns:a16="http://schemas.microsoft.com/office/drawing/2014/main" id="{72C5FE05-F2FA-47C4-A7D6-04741F6F8AAB}"/>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08">
            <a:extLst xmlns:a="http://schemas.openxmlformats.org/drawingml/2006/main">
              <a:ext uri="{FF2B5EF4-FFF2-40B4-BE49-F238E27FC236}">
                <a16:creationId xmlns:a16="http://schemas.microsoft.com/office/drawing/2014/main" id="{714689C6-410A-4E53-B51F-FEAAAB58DD6A}"/>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08</a:t>
            </a:r>
          </a:p>
        </p:txBody>
      </p:sp>
      <p:sp>
        <p:nvSpPr>
          <p:cNvPr id="5" name="Des échanges contextualisés">
            <a:extLst xmlns:a="http://schemas.openxmlformats.org/drawingml/2006/main">
              <a:ext uri="{FF2B5EF4-FFF2-40B4-BE49-F238E27FC236}">
                <a16:creationId xmlns:a16="http://schemas.microsoft.com/office/drawing/2014/main" id="{0A328951-4308-456B-8A63-A066251E147A}"/>
              </a:ext>
            </a:extLst>
          </p:cNvPr>
          <p:cNvSpPr>
            <a:spLocks xmlns:a="http://schemas.openxmlformats.org/drawingml/2006/main" noGrp="1"/>
          </p:cNvSpPr>
          <p:nvPr/>
        </p:nvSpPr>
        <p:spPr>
          <a:xfrm xmlns:a="http://schemas.openxmlformats.org/drawingml/2006/main">
            <a:off x="609600" y="19240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Des échanges contextualisés</a:t>
            </a:r>
          </a:p>
        </p:txBody>
      </p:sp>
      <p:sp>
        <p:nvSpPr>
          <p:cNvPr id="6" name="L’intention détermine les calculs et les docu">
            <a:extLst xmlns:a="http://schemas.openxmlformats.org/drawingml/2006/main">
              <a:ext uri="{FF2B5EF4-FFF2-40B4-BE49-F238E27FC236}">
                <a16:creationId xmlns:a16="http://schemas.microsoft.com/office/drawing/2014/main" id="{58BE313C-6590-4E98-A290-82D970C40243}"/>
              </a:ext>
            </a:extLst>
          </p:cNvPr>
          <p:cNvSpPr>
            <a:spLocks xmlns:a="http://schemas.openxmlformats.org/drawingml/2006/main" noGrp="1"/>
          </p:cNvSpPr>
          <p:nvPr/>
        </p:nvSpPr>
        <p:spPr>
          <a:xfrm xmlns:a="http://schemas.openxmlformats.org/drawingml/2006/main">
            <a:off x="609600" y="23812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L’intention détermine les calculs et les documents à consulter.</a:t>
            </a:r>
          </a:p>
        </p:txBody>
      </p:sp>
      <p:sp>
        <p:nvSpPr>
          <p:cNvPr id="7" name="Une réponse progressive">
            <a:extLst xmlns:a="http://schemas.openxmlformats.org/drawingml/2006/main">
              <a:ext uri="{FF2B5EF4-FFF2-40B4-BE49-F238E27FC236}">
                <a16:creationId xmlns:a16="http://schemas.microsoft.com/office/drawing/2014/main" id="{0AED52DA-2FD0-4559-A07A-11AE6061BFB0}"/>
              </a:ext>
            </a:extLst>
          </p:cNvPr>
          <p:cNvSpPr>
            <a:spLocks xmlns:a="http://schemas.openxmlformats.org/drawingml/2006/main" noGrp="1"/>
          </p:cNvSpPr>
          <p:nvPr/>
        </p:nvSpPr>
        <p:spPr>
          <a:xfrm xmlns:a="http://schemas.openxmlformats.org/drawingml/2006/main">
            <a:off x="609600" y="38766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Une réponse progressive</a:t>
            </a:r>
          </a:p>
        </p:txBody>
      </p:sp>
      <p:sp>
        <p:nvSpPr>
          <p:cNvPr id="8" name="Le texte arrive en streaming SSE. La conversa">
            <a:extLst xmlns:a="http://schemas.openxmlformats.org/drawingml/2006/main">
              <a:ext uri="{FF2B5EF4-FFF2-40B4-BE49-F238E27FC236}">
                <a16:creationId xmlns:a16="http://schemas.microsoft.com/office/drawing/2014/main" id="{5B29051D-6CC7-4662-87ED-1851ADC2D398}"/>
              </a:ext>
            </a:extLst>
          </p:cNvPr>
          <p:cNvSpPr>
            <a:spLocks xmlns:a="http://schemas.openxmlformats.org/drawingml/2006/main" noGrp="1"/>
          </p:cNvSpPr>
          <p:nvPr/>
        </p:nvSpPr>
        <p:spPr>
          <a:xfrm xmlns:a="http://schemas.openxmlformats.org/drawingml/2006/main">
            <a:off x="609600" y="4333875"/>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Le texte arrive en streaming SSE. La conversation reste enregistrée.</a:t>
            </a:r>
          </a:p>
        </p:txBody>
      </p:sp>
      <p:pic>
        <p:nvPicPr>
          <p:cNvPr id="9" name="">
            <a:extLst xmlns:a="http://schemas.openxmlformats.org/drawingml/2006/main">
              <a:ext uri="{FF2B5EF4-FFF2-40B4-BE49-F238E27FC236}">
                <a16:creationId xmlns:a16="http://schemas.microsoft.com/office/drawing/2014/main" id="{34F47944-72A1-4202-9BEC-2AA402ADD0D3}"/>
              </a:ext>
            </a:extLst>
          </p:cNvPr>
          <p:cNvPicPr>
            <a:picLocks xmlns:a="http://schemas.openxmlformats.org/drawingml/2006/main" noChangeAspect="1"/>
          </p:cNvPicPr>
          <p:nvPr/>
        </p:nvPicPr>
        <p:blipFill>
          <a:blip xmlns:r="http://schemas.openxmlformats.org/officeDocument/2006/relationships" xmlns:a="http://schemas.openxmlformats.org/drawingml/2006/main" r:embed="Rd16f727f6f3c4291"/>
          <a:stretch xmlns:a="http://schemas.openxmlformats.org/drawingml/2006/main"/>
        </p:blipFill>
        <p:spPr>
          <a:xfrm xmlns:a="http://schemas.openxmlformats.org/drawingml/2006/main">
            <a:off x="4207111" y="1495425"/>
            <a:ext cx="7368702" cy="4810125"/>
          </a:xfrm>
          <a:prstGeom xmlns:a="http://schemas.openxmlformats.org/drawingml/2006/main" prst="rect">
            <a:avLst/>
          </a:prstGeom>
        </p:spPr>
      </p:pic>
    </p:spTree>
    <p:extLst>
      <p:ext uri="{BB962C8B-B14F-4D97-AF65-F5344CB8AC3E}">
        <p14:creationId xmlns:p14="http://schemas.microsoft.com/office/powerpoint/2010/main" val="2113411826"/>
      </p:ext>
    </p:extLst>
  </p:cSld>
</p:sld>
</file>

<file path=ppt/slides/slide9.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Des sources consultables">
            <a:extLst xmlns:a="http://schemas.openxmlformats.org/drawingml/2006/main">
              <a:ext uri="{FF2B5EF4-FFF2-40B4-BE49-F238E27FC236}">
                <a16:creationId xmlns:a16="http://schemas.microsoft.com/office/drawing/2014/main" id="{2FF891C7-DFB6-4756-9356-B761D84BA4FB}"/>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Des sources consultables</a:t>
            </a:r>
          </a:p>
        </p:txBody>
      </p:sp>
      <p:sp>
        <p:nvSpPr>
          <p:cNvPr id="3" name="FitBot">
            <a:extLst xmlns:a="http://schemas.openxmlformats.org/drawingml/2006/main">
              <a:ext uri="{FF2B5EF4-FFF2-40B4-BE49-F238E27FC236}">
                <a16:creationId xmlns:a16="http://schemas.microsoft.com/office/drawing/2014/main" id="{75E33D3C-569D-425F-A939-93CBCE58D75B}"/>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09">
            <a:extLst xmlns:a="http://schemas.openxmlformats.org/drawingml/2006/main">
              <a:ext uri="{FF2B5EF4-FFF2-40B4-BE49-F238E27FC236}">
                <a16:creationId xmlns:a16="http://schemas.microsoft.com/office/drawing/2014/main" id="{369CBEFD-FF7D-473B-B8E5-F18F468BA4DA}"/>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09</a:t>
            </a:r>
          </a:p>
        </p:txBody>
      </p:sp>
      <p:sp>
        <p:nvSpPr>
          <p:cNvPr id="5" name="Deux catégories">
            <a:extLst xmlns:a="http://schemas.openxmlformats.org/drawingml/2006/main">
              <a:ext uri="{FF2B5EF4-FFF2-40B4-BE49-F238E27FC236}">
                <a16:creationId xmlns:a16="http://schemas.microsoft.com/office/drawing/2014/main" id="{F38D0848-E589-45B3-8F6F-2BB5F1CCC4A8}"/>
              </a:ext>
            </a:extLst>
          </p:cNvPr>
          <p:cNvSpPr>
            <a:spLocks xmlns:a="http://schemas.openxmlformats.org/drawingml/2006/main" noGrp="1"/>
          </p:cNvSpPr>
          <p:nvPr/>
        </p:nvSpPr>
        <p:spPr>
          <a:xfrm xmlns:a="http://schemas.openxmlformats.org/drawingml/2006/main">
            <a:off x="609600" y="19240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Deux catégories</a:t>
            </a:r>
          </a:p>
        </p:txBody>
      </p:sp>
      <p:sp>
        <p:nvSpPr>
          <p:cNvPr id="6" name="Les questions de nutrition et d’exercice inte">
            <a:extLst xmlns:a="http://schemas.openxmlformats.org/drawingml/2006/main">
              <a:ext uri="{FF2B5EF4-FFF2-40B4-BE49-F238E27FC236}">
                <a16:creationId xmlns:a16="http://schemas.microsoft.com/office/drawing/2014/main" id="{FD93897C-40CF-4881-8901-9134DA69E510}"/>
              </a:ext>
            </a:extLst>
          </p:cNvPr>
          <p:cNvSpPr>
            <a:spLocks xmlns:a="http://schemas.openxmlformats.org/drawingml/2006/main" noGrp="1"/>
          </p:cNvSpPr>
          <p:nvPr/>
        </p:nvSpPr>
        <p:spPr>
          <a:xfrm xmlns:a="http://schemas.openxmlformats.org/drawingml/2006/main">
            <a:off x="609600" y="23812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Les questions de nutrition et d’exercice interrogent des index distincts.</a:t>
            </a:r>
          </a:p>
        </p:txBody>
      </p:sp>
      <p:sp>
        <p:nvSpPr>
          <p:cNvPr id="7" name="Des passages référencés">
            <a:extLst xmlns:a="http://schemas.openxmlformats.org/drawingml/2006/main">
              <a:ext uri="{FF2B5EF4-FFF2-40B4-BE49-F238E27FC236}">
                <a16:creationId xmlns:a16="http://schemas.microsoft.com/office/drawing/2014/main" id="{9F8D3720-8E56-493B-8346-D9E7084B2B05}"/>
              </a:ext>
            </a:extLst>
          </p:cNvPr>
          <p:cNvSpPr>
            <a:spLocks xmlns:a="http://schemas.openxmlformats.org/drawingml/2006/main" noGrp="1"/>
          </p:cNvSpPr>
          <p:nvPr/>
        </p:nvSpPr>
        <p:spPr>
          <a:xfrm xmlns:a="http://schemas.openxmlformats.org/drawingml/2006/main">
            <a:off x="609600" y="38766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Des passages référencés</a:t>
            </a:r>
          </a:p>
        </p:txBody>
      </p:sp>
      <p:sp>
        <p:nvSpPr>
          <p:cNvPr id="8" name="Le nom du PDF, la page et le score accompagne">
            <a:extLst xmlns:a="http://schemas.openxmlformats.org/drawingml/2006/main">
              <a:ext uri="{FF2B5EF4-FFF2-40B4-BE49-F238E27FC236}">
                <a16:creationId xmlns:a16="http://schemas.microsoft.com/office/drawing/2014/main" id="{A0D29AC1-1DA4-4035-9E25-2DF648C64774}"/>
              </a:ext>
            </a:extLst>
          </p:cNvPr>
          <p:cNvSpPr>
            <a:spLocks xmlns:a="http://schemas.openxmlformats.org/drawingml/2006/main" noGrp="1"/>
          </p:cNvSpPr>
          <p:nvPr/>
        </p:nvSpPr>
        <p:spPr>
          <a:xfrm xmlns:a="http://schemas.openxmlformats.org/drawingml/2006/main">
            <a:off x="609600" y="4333875"/>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Le nom du PDF, la page et le score accompagnent les extraits retrouvés.</a:t>
            </a:r>
          </a:p>
        </p:txBody>
      </p:sp>
      <p:pic>
        <p:nvPicPr>
          <p:cNvPr id="9" name="">
            <a:extLst xmlns:a="http://schemas.openxmlformats.org/drawingml/2006/main">
              <a:ext uri="{FF2B5EF4-FFF2-40B4-BE49-F238E27FC236}">
                <a16:creationId xmlns:a16="http://schemas.microsoft.com/office/drawing/2014/main" id="{CF0BDE7C-549C-4F68-9665-F84776635918}"/>
              </a:ext>
            </a:extLst>
          </p:cNvPr>
          <p:cNvPicPr>
            <a:picLocks xmlns:a="http://schemas.openxmlformats.org/drawingml/2006/main" noChangeAspect="1"/>
          </p:cNvPicPr>
          <p:nvPr/>
        </p:nvPicPr>
        <p:blipFill>
          <a:blip xmlns:r="http://schemas.openxmlformats.org/officeDocument/2006/relationships" xmlns:a="http://schemas.openxmlformats.org/drawingml/2006/main" r:embed="R81c64c060ff649e9"/>
          <a:stretch xmlns:a="http://schemas.openxmlformats.org/drawingml/2006/main"/>
        </p:blipFill>
        <p:spPr>
          <a:xfrm xmlns:a="http://schemas.openxmlformats.org/drawingml/2006/main">
            <a:off x="4207111" y="1495425"/>
            <a:ext cx="7368702" cy="4810125"/>
          </a:xfrm>
          <a:prstGeom xmlns:a="http://schemas.openxmlformats.org/drawingml/2006/main" prst="rect">
            <a:avLst/>
          </a:prstGeom>
        </p:spPr>
      </p:pic>
    </p:spTree>
    <p:extLst>
      <p:ext uri="{BB962C8B-B14F-4D97-AF65-F5344CB8AC3E}">
        <p14:creationId xmlns:p14="http://schemas.microsoft.com/office/powerpoint/2010/main" val="490975684"/>
      </p:ext>
    </p:extLst>
  </p:cSld>
</p:sld>
</file>

<file path=ppt/slides/slide10.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Des cibles nutritionnelles calculées">
            <a:extLst xmlns:a="http://schemas.openxmlformats.org/drawingml/2006/main">
              <a:ext uri="{FF2B5EF4-FFF2-40B4-BE49-F238E27FC236}">
                <a16:creationId xmlns:a16="http://schemas.microsoft.com/office/drawing/2014/main" id="{6256AB45-6169-402F-B859-2F674718EB30}"/>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Des cibles nutritionnelles calculées</a:t>
            </a:r>
          </a:p>
        </p:txBody>
      </p:sp>
      <p:sp>
        <p:nvSpPr>
          <p:cNvPr id="3" name="FitBot">
            <a:extLst xmlns:a="http://schemas.openxmlformats.org/drawingml/2006/main">
              <a:ext uri="{FF2B5EF4-FFF2-40B4-BE49-F238E27FC236}">
                <a16:creationId xmlns:a16="http://schemas.microsoft.com/office/drawing/2014/main" id="{B7A48F9B-5371-465D-A35A-1B76A18D82F0}"/>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0">
            <a:extLst xmlns:a="http://schemas.openxmlformats.org/drawingml/2006/main">
              <a:ext uri="{FF2B5EF4-FFF2-40B4-BE49-F238E27FC236}">
                <a16:creationId xmlns:a16="http://schemas.microsoft.com/office/drawing/2014/main" id="{EFEB9C19-A137-4B04-A965-A285C18CC840}"/>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10</a:t>
            </a:r>
          </a:p>
        </p:txBody>
      </p:sp>
      <p:sp>
        <p:nvSpPr>
          <p:cNvPr id="5" name="Le moteur Python">
            <a:extLst xmlns:a="http://schemas.openxmlformats.org/drawingml/2006/main">
              <a:ext uri="{FF2B5EF4-FFF2-40B4-BE49-F238E27FC236}">
                <a16:creationId xmlns:a16="http://schemas.microsoft.com/office/drawing/2014/main" id="{FC0BA427-5489-4C2C-BDFE-64FCB2F52F43}"/>
              </a:ext>
            </a:extLst>
          </p:cNvPr>
          <p:cNvSpPr>
            <a:spLocks xmlns:a="http://schemas.openxmlformats.org/drawingml/2006/main" noGrp="1"/>
          </p:cNvSpPr>
          <p:nvPr/>
        </p:nvSpPr>
        <p:spPr>
          <a:xfrm xmlns:a="http://schemas.openxmlformats.org/drawingml/2006/main">
            <a:off x="609600" y="19240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Le moteur Python</a:t>
            </a:r>
          </a:p>
        </p:txBody>
      </p:sp>
      <p:sp>
        <p:nvSpPr>
          <p:cNvPr id="6" name="BMR, TDEE et répartition des macronutriments ">
            <a:extLst xmlns:a="http://schemas.openxmlformats.org/drawingml/2006/main">
              <a:ext uri="{FF2B5EF4-FFF2-40B4-BE49-F238E27FC236}">
                <a16:creationId xmlns:a16="http://schemas.microsoft.com/office/drawing/2014/main" id="{A343BC78-56A7-4C2F-9ED6-10DB18EF064C}"/>
              </a:ext>
            </a:extLst>
          </p:cNvPr>
          <p:cNvSpPr>
            <a:spLocks xmlns:a="http://schemas.openxmlformats.org/drawingml/2006/main" noGrp="1"/>
          </p:cNvSpPr>
          <p:nvPr/>
        </p:nvSpPr>
        <p:spPr>
          <a:xfrm xmlns:a="http://schemas.openxmlformats.org/drawingml/2006/main">
            <a:off x="609600" y="23812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BMR, TDEE et répartition des macronutriments selon le profil.</a:t>
            </a:r>
          </a:p>
        </p:txBody>
      </p:sp>
      <p:sp>
        <p:nvSpPr>
          <p:cNvPr id="7" name="Un plan de repas">
            <a:extLst xmlns:a="http://schemas.openxmlformats.org/drawingml/2006/main">
              <a:ext uri="{FF2B5EF4-FFF2-40B4-BE49-F238E27FC236}">
                <a16:creationId xmlns:a16="http://schemas.microsoft.com/office/drawing/2014/main" id="{68AC6D51-F467-400A-B247-43832868C8BD}"/>
              </a:ext>
            </a:extLst>
          </p:cNvPr>
          <p:cNvSpPr>
            <a:spLocks xmlns:a="http://schemas.openxmlformats.org/drawingml/2006/main" noGrp="1"/>
          </p:cNvSpPr>
          <p:nvPr/>
        </p:nvSpPr>
        <p:spPr>
          <a:xfrm xmlns:a="http://schemas.openxmlformats.org/drawingml/2006/main">
            <a:off x="609600" y="38766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 plan de repas</a:t>
            </a:r>
          </a:p>
        </p:txBody>
      </p:sp>
      <p:sp>
        <p:nvSpPr>
          <p:cNvPr id="8" name="Les cibles se répartissent dans la journée. L">
            <a:extLst xmlns:a="http://schemas.openxmlformats.org/drawingml/2006/main">
              <a:ext uri="{FF2B5EF4-FFF2-40B4-BE49-F238E27FC236}">
                <a16:creationId xmlns:a16="http://schemas.microsoft.com/office/drawing/2014/main" id="{7A05B396-66B1-4304-BBFA-72F165D50C21}"/>
              </a:ext>
            </a:extLst>
          </p:cNvPr>
          <p:cNvSpPr>
            <a:spLocks xmlns:a="http://schemas.openxmlformats.org/drawingml/2006/main" noGrp="1"/>
          </p:cNvSpPr>
          <p:nvPr/>
        </p:nvSpPr>
        <p:spPr>
          <a:xfrm xmlns:a="http://schemas.openxmlformats.org/drawingml/2006/main">
            <a:off x="609600" y="4333875"/>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Les cibles se répartissent dans la journée. L’IA ajoute une explication documentaire.</a:t>
            </a:r>
          </a:p>
        </p:txBody>
      </p:sp>
      <p:pic>
        <p:nvPicPr>
          <p:cNvPr id="9" name="">
            <a:extLst xmlns:a="http://schemas.openxmlformats.org/drawingml/2006/main">
              <a:ext uri="{FF2B5EF4-FFF2-40B4-BE49-F238E27FC236}">
                <a16:creationId xmlns:a16="http://schemas.microsoft.com/office/drawing/2014/main" id="{BE668009-7B90-4DDE-A4C9-81759F794CAF}"/>
              </a:ext>
            </a:extLst>
          </p:cNvPr>
          <p:cNvPicPr>
            <a:picLocks xmlns:a="http://schemas.openxmlformats.org/drawingml/2006/main" noChangeAspect="1"/>
          </p:cNvPicPr>
          <p:nvPr/>
        </p:nvPicPr>
        <p:blipFill>
          <a:blip xmlns:r="http://schemas.openxmlformats.org/officeDocument/2006/relationships" xmlns:a="http://schemas.openxmlformats.org/drawingml/2006/main" r:embed="R8ff55d321acc4628"/>
          <a:stretch xmlns:a="http://schemas.openxmlformats.org/drawingml/2006/main"/>
        </p:blipFill>
        <p:spPr>
          <a:xfrm xmlns:a="http://schemas.openxmlformats.org/drawingml/2006/main">
            <a:off x="4207111" y="1495425"/>
            <a:ext cx="7368702" cy="4810125"/>
          </a:xfrm>
          <a:prstGeom xmlns:a="http://schemas.openxmlformats.org/drawingml/2006/main" prst="rect">
            <a:avLst/>
          </a:prstGeom>
        </p:spPr>
      </p:pic>
    </p:spTree>
    <p:extLst>
      <p:ext uri="{BB962C8B-B14F-4D97-AF65-F5344CB8AC3E}">
        <p14:creationId xmlns:p14="http://schemas.microsoft.com/office/powerpoint/2010/main" val="935165613"/>
      </p:ext>
    </p:extLst>
  </p:cSld>
</p:sld>
</file>

<file path=ppt/slides/slide11.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e journal alimentaire">
            <a:extLst xmlns:a="http://schemas.openxmlformats.org/drawingml/2006/main">
              <a:ext uri="{FF2B5EF4-FFF2-40B4-BE49-F238E27FC236}">
                <a16:creationId xmlns:a16="http://schemas.microsoft.com/office/drawing/2014/main" id="{5EBFCACC-AA9A-4958-9D8D-AF24AB57B771}"/>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Le journal alimentaire</a:t>
            </a:r>
          </a:p>
        </p:txBody>
      </p:sp>
      <p:sp>
        <p:nvSpPr>
          <p:cNvPr id="3" name="FitBot">
            <a:extLst xmlns:a="http://schemas.openxmlformats.org/drawingml/2006/main">
              <a:ext uri="{FF2B5EF4-FFF2-40B4-BE49-F238E27FC236}">
                <a16:creationId xmlns:a16="http://schemas.microsoft.com/office/drawing/2014/main" id="{748A04E3-329F-4C5D-A7EF-F7025FB38A16}"/>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1">
            <a:extLst xmlns:a="http://schemas.openxmlformats.org/drawingml/2006/main">
              <a:ext uri="{FF2B5EF4-FFF2-40B4-BE49-F238E27FC236}">
                <a16:creationId xmlns:a16="http://schemas.microsoft.com/office/drawing/2014/main" id="{6372F0C8-891D-48EF-8B68-543917AD8092}"/>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11</a:t>
            </a:r>
          </a:p>
        </p:txBody>
      </p:sp>
      <p:sp>
        <p:nvSpPr>
          <p:cNvPr id="5" name="Saisir et corriger">
            <a:extLst xmlns:a="http://schemas.openxmlformats.org/drawingml/2006/main">
              <a:ext uri="{FF2B5EF4-FFF2-40B4-BE49-F238E27FC236}">
                <a16:creationId xmlns:a16="http://schemas.microsoft.com/office/drawing/2014/main" id="{85DC86C3-5178-4896-9AD7-02349C2CA9CD}"/>
              </a:ext>
            </a:extLst>
          </p:cNvPr>
          <p:cNvSpPr>
            <a:spLocks xmlns:a="http://schemas.openxmlformats.org/drawingml/2006/main" noGrp="1"/>
          </p:cNvSpPr>
          <p:nvPr/>
        </p:nvSpPr>
        <p:spPr>
          <a:xfrm xmlns:a="http://schemas.openxmlformats.org/drawingml/2006/main">
            <a:off x="609600" y="19240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Saisir et corriger</a:t>
            </a:r>
          </a:p>
        </p:txBody>
      </p:sp>
      <p:sp>
        <p:nvSpPr>
          <p:cNvPr id="6" name="Ajout, modification ou suppression d’un repas">
            <a:extLst xmlns:a="http://schemas.openxmlformats.org/drawingml/2006/main">
              <a:ext uri="{FF2B5EF4-FFF2-40B4-BE49-F238E27FC236}">
                <a16:creationId xmlns:a16="http://schemas.microsoft.com/office/drawing/2014/main" id="{5BAD986A-5B8E-46A6-AB22-5EEDA042F2D4}"/>
              </a:ext>
            </a:extLst>
          </p:cNvPr>
          <p:cNvSpPr>
            <a:spLocks xmlns:a="http://schemas.openxmlformats.org/drawingml/2006/main" noGrp="1"/>
          </p:cNvSpPr>
          <p:nvPr/>
        </p:nvSpPr>
        <p:spPr>
          <a:xfrm xmlns:a="http://schemas.openxmlformats.org/drawingml/2006/main">
            <a:off x="609600" y="23812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Ajout, modification ou suppression d’un repas dans PostgreSQL.</a:t>
            </a:r>
          </a:p>
        </p:txBody>
      </p:sp>
      <p:sp>
        <p:nvSpPr>
          <p:cNvPr id="7" name="Suivre le reste de la journée">
            <a:extLst xmlns:a="http://schemas.openxmlformats.org/drawingml/2006/main">
              <a:ext uri="{FF2B5EF4-FFF2-40B4-BE49-F238E27FC236}">
                <a16:creationId xmlns:a16="http://schemas.microsoft.com/office/drawing/2014/main" id="{C76B2A6E-E7D5-4662-BB17-5EE9596E3029}"/>
              </a:ext>
            </a:extLst>
          </p:cNvPr>
          <p:cNvSpPr>
            <a:spLocks xmlns:a="http://schemas.openxmlformats.org/drawingml/2006/main" noGrp="1"/>
          </p:cNvSpPr>
          <p:nvPr/>
        </p:nvSpPr>
        <p:spPr>
          <a:xfrm xmlns:a="http://schemas.openxmlformats.org/drawingml/2006/main">
            <a:off x="609600" y="38766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Suivre le reste de la journée</a:t>
            </a:r>
          </a:p>
        </p:txBody>
      </p:sp>
      <p:sp>
        <p:nvSpPr>
          <p:cNvPr id="8" name="Le serveur additionne les apports et les comp">
            <a:extLst xmlns:a="http://schemas.openxmlformats.org/drawingml/2006/main">
              <a:ext uri="{FF2B5EF4-FFF2-40B4-BE49-F238E27FC236}">
                <a16:creationId xmlns:a16="http://schemas.microsoft.com/office/drawing/2014/main" id="{994A3DEA-A56C-4F9D-BA59-CFA9D1948D54}"/>
              </a:ext>
            </a:extLst>
          </p:cNvPr>
          <p:cNvSpPr>
            <a:spLocks xmlns:a="http://schemas.openxmlformats.org/drawingml/2006/main" noGrp="1"/>
          </p:cNvSpPr>
          <p:nvPr/>
        </p:nvSpPr>
        <p:spPr>
          <a:xfrm xmlns:a="http://schemas.openxmlformats.org/drawingml/2006/main">
            <a:off x="609600" y="4333875"/>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Le serveur additionne les apports et les compare aux objectifs.</a:t>
            </a:r>
          </a:p>
        </p:txBody>
      </p:sp>
      <p:pic>
        <p:nvPicPr>
          <p:cNvPr id="9" name="">
            <a:extLst xmlns:a="http://schemas.openxmlformats.org/drawingml/2006/main">
              <a:ext uri="{FF2B5EF4-FFF2-40B4-BE49-F238E27FC236}">
                <a16:creationId xmlns:a16="http://schemas.microsoft.com/office/drawing/2014/main" id="{80ECB689-A75B-48F3-8908-B98D904CEAEB}"/>
              </a:ext>
            </a:extLst>
          </p:cNvPr>
          <p:cNvPicPr>
            <a:picLocks xmlns:a="http://schemas.openxmlformats.org/drawingml/2006/main" noChangeAspect="1"/>
          </p:cNvPicPr>
          <p:nvPr/>
        </p:nvPicPr>
        <p:blipFill>
          <a:blip xmlns:r="http://schemas.openxmlformats.org/officeDocument/2006/relationships" xmlns:a="http://schemas.openxmlformats.org/drawingml/2006/main" r:embed="R437096c854cb4582"/>
          <a:stretch xmlns:a="http://schemas.openxmlformats.org/drawingml/2006/main"/>
        </p:blipFill>
        <p:spPr>
          <a:xfrm xmlns:a="http://schemas.openxmlformats.org/drawingml/2006/main">
            <a:off x="4207111" y="1495425"/>
            <a:ext cx="7368702" cy="4810125"/>
          </a:xfrm>
          <a:prstGeom xmlns:a="http://schemas.openxmlformats.org/drawingml/2006/main" prst="rect">
            <a:avLst/>
          </a:prstGeom>
        </p:spPr>
      </p:pic>
    </p:spTree>
    <p:extLst>
      <p:ext uri="{BB962C8B-B14F-4D97-AF65-F5344CB8AC3E}">
        <p14:creationId xmlns:p14="http://schemas.microsoft.com/office/powerpoint/2010/main" val="264349770"/>
      </p:ext>
    </p:extLst>
  </p:cSld>
</p:sld>
</file>

<file path=ppt/slides/slide12.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Des idées de repas adaptées au restant">
            <a:extLst xmlns:a="http://schemas.openxmlformats.org/drawingml/2006/main">
              <a:ext uri="{FF2B5EF4-FFF2-40B4-BE49-F238E27FC236}">
                <a16:creationId xmlns:a16="http://schemas.microsoft.com/office/drawing/2014/main" id="{AFC9DF5C-E050-457F-BCA6-7C877D900DBB}"/>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Des idées de repas adaptées au restant</a:t>
            </a:r>
          </a:p>
        </p:txBody>
      </p:sp>
      <p:sp>
        <p:nvSpPr>
          <p:cNvPr id="3" name="FitBot">
            <a:extLst xmlns:a="http://schemas.openxmlformats.org/drawingml/2006/main">
              <a:ext uri="{FF2B5EF4-FFF2-40B4-BE49-F238E27FC236}">
                <a16:creationId xmlns:a16="http://schemas.microsoft.com/office/drawing/2014/main" id="{6A157BF0-69CC-4DEB-BE59-20FF359B366B}"/>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2">
            <a:extLst xmlns:a="http://schemas.openxmlformats.org/drawingml/2006/main">
              <a:ext uri="{FF2B5EF4-FFF2-40B4-BE49-F238E27FC236}">
                <a16:creationId xmlns:a16="http://schemas.microsoft.com/office/drawing/2014/main" id="{238BFE0D-8A91-409C-99EF-9619645A4263}"/>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12</a:t>
            </a:r>
          </a:p>
        </p:txBody>
      </p:sp>
      <p:sp>
        <p:nvSpPr>
          <p:cNvPr id="5" name="Le code fixe le budget">
            <a:extLst xmlns:a="http://schemas.openxmlformats.org/drawingml/2006/main">
              <a:ext uri="{FF2B5EF4-FFF2-40B4-BE49-F238E27FC236}">
                <a16:creationId xmlns:a16="http://schemas.microsoft.com/office/drawing/2014/main" id="{33147BAD-ECA2-4C72-9B79-0CF90491D424}"/>
              </a:ext>
            </a:extLst>
          </p:cNvPr>
          <p:cNvSpPr>
            <a:spLocks xmlns:a="http://schemas.openxmlformats.org/drawingml/2006/main" noGrp="1"/>
          </p:cNvSpPr>
          <p:nvPr/>
        </p:nvSpPr>
        <p:spPr>
          <a:xfrm xmlns:a="http://schemas.openxmlformats.org/drawingml/2006/main">
            <a:off x="609600" y="19240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Le code fixe le budget</a:t>
            </a:r>
          </a:p>
        </p:txBody>
      </p:sp>
      <p:sp>
        <p:nvSpPr>
          <p:cNvPr id="6" name="Calories et macros restantes viennent du jour">
            <a:extLst xmlns:a="http://schemas.openxmlformats.org/drawingml/2006/main">
              <a:ext uri="{FF2B5EF4-FFF2-40B4-BE49-F238E27FC236}">
                <a16:creationId xmlns:a16="http://schemas.microsoft.com/office/drawing/2014/main" id="{F60DA97A-5DFB-4D81-9C37-2838595A6723}"/>
              </a:ext>
            </a:extLst>
          </p:cNvPr>
          <p:cNvSpPr>
            <a:spLocks xmlns:a="http://schemas.openxmlformats.org/drawingml/2006/main" noGrp="1"/>
          </p:cNvSpPr>
          <p:nvPr/>
        </p:nvSpPr>
        <p:spPr>
          <a:xfrm xmlns:a="http://schemas.openxmlformats.org/drawingml/2006/main">
            <a:off x="609600" y="23812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Calories et macros restantes viennent du journal.</a:t>
            </a:r>
          </a:p>
        </p:txBody>
      </p:sp>
      <p:sp>
        <p:nvSpPr>
          <p:cNvPr id="7" name="L’IA propose les idées">
            <a:extLst xmlns:a="http://schemas.openxmlformats.org/drawingml/2006/main">
              <a:ext uri="{FF2B5EF4-FFF2-40B4-BE49-F238E27FC236}">
                <a16:creationId xmlns:a16="http://schemas.microsoft.com/office/drawing/2014/main" id="{FC62AB3D-591C-4311-9DD8-88C15E2035C8}"/>
              </a:ext>
            </a:extLst>
          </p:cNvPr>
          <p:cNvSpPr>
            <a:spLocks xmlns:a="http://schemas.openxmlformats.org/drawingml/2006/main" noGrp="1"/>
          </p:cNvSpPr>
          <p:nvPr/>
        </p:nvSpPr>
        <p:spPr>
          <a:xfrm xmlns:a="http://schemas.openxmlformats.org/drawingml/2006/main">
            <a:off x="609600" y="38766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L’IA propose les idées</a:t>
            </a:r>
          </a:p>
        </p:txBody>
      </p:sp>
      <p:sp>
        <p:nvSpPr>
          <p:cNvPr id="8" name="Jusqu’à trois suggestions, avec portions esti">
            <a:extLst xmlns:a="http://schemas.openxmlformats.org/drawingml/2006/main">
              <a:ext uri="{FF2B5EF4-FFF2-40B4-BE49-F238E27FC236}">
                <a16:creationId xmlns:a16="http://schemas.microsoft.com/office/drawing/2014/main" id="{81AD2BAA-FA53-4703-BE2D-E0E6DD3D1EBD}"/>
              </a:ext>
            </a:extLst>
          </p:cNvPr>
          <p:cNvSpPr>
            <a:spLocks xmlns:a="http://schemas.openxmlformats.org/drawingml/2006/main" noGrp="1"/>
          </p:cNvSpPr>
          <p:nvPr/>
        </p:nvSpPr>
        <p:spPr>
          <a:xfrm xmlns:a="http://schemas.openxmlformats.org/drawingml/2006/main">
            <a:off x="609600" y="4333875"/>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Jusqu’à trois suggestions, avec portions estimées et correction avant ajout.</a:t>
            </a:r>
          </a:p>
        </p:txBody>
      </p:sp>
      <p:pic>
        <p:nvPicPr>
          <p:cNvPr id="9" name="">
            <a:extLst xmlns:a="http://schemas.openxmlformats.org/drawingml/2006/main">
              <a:ext uri="{FF2B5EF4-FFF2-40B4-BE49-F238E27FC236}">
                <a16:creationId xmlns:a16="http://schemas.microsoft.com/office/drawing/2014/main" id="{C9310500-BFCA-4FED-A5EC-DE99B1851718}"/>
              </a:ext>
            </a:extLst>
          </p:cNvPr>
          <p:cNvPicPr>
            <a:picLocks xmlns:a="http://schemas.openxmlformats.org/drawingml/2006/main" noChangeAspect="1"/>
          </p:cNvPicPr>
          <p:nvPr/>
        </p:nvPicPr>
        <p:blipFill>
          <a:blip xmlns:r="http://schemas.openxmlformats.org/officeDocument/2006/relationships" xmlns:a="http://schemas.openxmlformats.org/drawingml/2006/main" r:embed="R65a80b04f7db49b2"/>
          <a:stretch xmlns:a="http://schemas.openxmlformats.org/drawingml/2006/main"/>
        </p:blipFill>
        <p:spPr>
          <a:xfrm xmlns:a="http://schemas.openxmlformats.org/drawingml/2006/main">
            <a:off x="4207111" y="1495425"/>
            <a:ext cx="7368702" cy="4810125"/>
          </a:xfrm>
          <a:prstGeom xmlns:a="http://schemas.openxmlformats.org/drawingml/2006/main" prst="rect">
            <a:avLst/>
          </a:prstGeom>
        </p:spPr>
      </p:pic>
    </p:spTree>
    <p:extLst>
      <p:ext uri="{BB962C8B-B14F-4D97-AF65-F5344CB8AC3E}">
        <p14:creationId xmlns:p14="http://schemas.microsoft.com/office/powerpoint/2010/main" val="610745911"/>
      </p:ext>
    </p:extLst>
  </p:cSld>
</p:sld>
</file>

<file path=ppt/slides/slide13.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analyse d’une photo de repas">
            <a:extLst xmlns:a="http://schemas.openxmlformats.org/drawingml/2006/main">
              <a:ext uri="{FF2B5EF4-FFF2-40B4-BE49-F238E27FC236}">
                <a16:creationId xmlns:a16="http://schemas.microsoft.com/office/drawing/2014/main" id="{83B057F6-7A85-4C1A-A1D4-8038B300DECB}"/>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L’analyse d’une photo de repas</a:t>
            </a:r>
          </a:p>
        </p:txBody>
      </p:sp>
      <p:sp>
        <p:nvSpPr>
          <p:cNvPr id="3" name="FitBot">
            <a:extLst xmlns:a="http://schemas.openxmlformats.org/drawingml/2006/main">
              <a:ext uri="{FF2B5EF4-FFF2-40B4-BE49-F238E27FC236}">
                <a16:creationId xmlns:a16="http://schemas.microsoft.com/office/drawing/2014/main" id="{A3EC2CD7-AD64-46E7-9523-6E2EBB91B9CF}"/>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3">
            <a:extLst xmlns:a="http://schemas.openxmlformats.org/drawingml/2006/main">
              <a:ext uri="{FF2B5EF4-FFF2-40B4-BE49-F238E27FC236}">
                <a16:creationId xmlns:a16="http://schemas.microsoft.com/office/drawing/2014/main" id="{CAA2BE4D-BD90-4068-92E5-61ADF334EDDC}"/>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13</a:t>
            </a:r>
          </a:p>
        </p:txBody>
      </p:sp>
      <p:sp>
        <p:nvSpPr>
          <p:cNvPr id="5" name="Gemini Vision">
            <a:extLst xmlns:a="http://schemas.openxmlformats.org/drawingml/2006/main">
              <a:ext uri="{FF2B5EF4-FFF2-40B4-BE49-F238E27FC236}">
                <a16:creationId xmlns:a16="http://schemas.microsoft.com/office/drawing/2014/main" id="{26BBE550-CF75-4D87-9759-2F4C22081E0E}"/>
              </a:ext>
            </a:extLst>
          </p:cNvPr>
          <p:cNvSpPr>
            <a:spLocks xmlns:a="http://schemas.openxmlformats.org/drawingml/2006/main" noGrp="1"/>
          </p:cNvSpPr>
          <p:nvPr/>
        </p:nvSpPr>
        <p:spPr>
          <a:xfrm xmlns:a="http://schemas.openxmlformats.org/drawingml/2006/main">
            <a:off x="609600" y="19240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Gemini Vision</a:t>
            </a:r>
          </a:p>
        </p:txBody>
      </p:sp>
      <p:sp>
        <p:nvSpPr>
          <p:cNvPr id="6" name="Reconnaissance des aliments et estimation des">
            <a:extLst xmlns:a="http://schemas.openxmlformats.org/drawingml/2006/main">
              <a:ext uri="{FF2B5EF4-FFF2-40B4-BE49-F238E27FC236}">
                <a16:creationId xmlns:a16="http://schemas.microsoft.com/office/drawing/2014/main" id="{BEE9EA8C-9156-4B5D-A480-C8CDBA922ECB}"/>
              </a:ext>
            </a:extLst>
          </p:cNvPr>
          <p:cNvSpPr>
            <a:spLocks xmlns:a="http://schemas.openxmlformats.org/drawingml/2006/main" noGrp="1"/>
          </p:cNvSpPr>
          <p:nvPr/>
        </p:nvSpPr>
        <p:spPr>
          <a:xfrm xmlns:a="http://schemas.openxmlformats.org/drawingml/2006/main">
            <a:off x="609600" y="2381250"/>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Reconnaissance des aliments et estimation des portions, calories et macros.</a:t>
            </a:r>
          </a:p>
        </p:txBody>
      </p:sp>
      <p:sp>
        <p:nvSpPr>
          <p:cNvPr id="7" name="Une validation avant sauvegarde">
            <a:extLst xmlns:a="http://schemas.openxmlformats.org/drawingml/2006/main">
              <a:ext uri="{FF2B5EF4-FFF2-40B4-BE49-F238E27FC236}">
                <a16:creationId xmlns:a16="http://schemas.microsoft.com/office/drawing/2014/main" id="{179AFCE3-8F4E-4065-A324-BE6F00445E99}"/>
              </a:ext>
            </a:extLst>
          </p:cNvPr>
          <p:cNvSpPr>
            <a:spLocks xmlns:a="http://schemas.openxmlformats.org/drawingml/2006/main" noGrp="1"/>
          </p:cNvSpPr>
          <p:nvPr/>
        </p:nvSpPr>
        <p:spPr>
          <a:xfrm xmlns:a="http://schemas.openxmlformats.org/drawingml/2006/main">
            <a:off x="609600" y="3876675"/>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Une validation avant sauvegarde</a:t>
            </a:r>
          </a:p>
        </p:txBody>
      </p:sp>
      <p:sp>
        <p:nvSpPr>
          <p:cNvPr id="8" name="Le JSON doit respecter le schéma. L’utilisate">
            <a:extLst xmlns:a="http://schemas.openxmlformats.org/drawingml/2006/main">
              <a:ext uri="{FF2B5EF4-FFF2-40B4-BE49-F238E27FC236}">
                <a16:creationId xmlns:a16="http://schemas.microsoft.com/office/drawing/2014/main" id="{7E5D4F36-5F64-445B-831A-5B4C0EF79EBE}"/>
              </a:ext>
            </a:extLst>
          </p:cNvPr>
          <p:cNvSpPr>
            <a:spLocks xmlns:a="http://schemas.openxmlformats.org/drawingml/2006/main" noGrp="1"/>
          </p:cNvSpPr>
          <p:nvPr/>
        </p:nvSpPr>
        <p:spPr>
          <a:xfrm xmlns:a="http://schemas.openxmlformats.org/drawingml/2006/main">
            <a:off x="609600" y="433387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Le JSON doit respecter le schéma. L’utilisateur vérifie les estimations.</a:t>
            </a:r>
          </a:p>
        </p:txBody>
      </p:sp>
      <p:pic>
        <p:nvPicPr>
          <p:cNvPr id="9" name="">
            <a:extLst xmlns:a="http://schemas.openxmlformats.org/drawingml/2006/main">
              <a:ext uri="{FF2B5EF4-FFF2-40B4-BE49-F238E27FC236}">
                <a16:creationId xmlns:a16="http://schemas.microsoft.com/office/drawing/2014/main" id="{2D6FFC38-1D6B-4451-9D9D-E1C352347E62}"/>
              </a:ext>
            </a:extLst>
          </p:cNvPr>
          <p:cNvPicPr>
            <a:picLocks xmlns:a="http://schemas.openxmlformats.org/drawingml/2006/main" noChangeAspect="1"/>
          </p:cNvPicPr>
          <p:nvPr/>
        </p:nvPicPr>
        <p:blipFill>
          <a:blip xmlns:r="http://schemas.openxmlformats.org/officeDocument/2006/relationships" xmlns:a="http://schemas.openxmlformats.org/drawingml/2006/main" r:embed="R7367a030ba2047db"/>
          <a:stretch xmlns:a="http://schemas.openxmlformats.org/drawingml/2006/main"/>
        </p:blipFill>
        <p:spPr>
          <a:xfrm xmlns:a="http://schemas.openxmlformats.org/drawingml/2006/main">
            <a:off x="7294882" y="1466850"/>
            <a:ext cx="2993387" cy="4829175"/>
          </a:xfrm>
          <a:prstGeom xmlns:a="http://schemas.openxmlformats.org/drawingml/2006/main" prst="rect">
            <a:avLst/>
          </a:prstGeom>
        </p:spPr>
      </p:pic>
    </p:spTree>
    <p:extLst>
      <p:ext uri="{BB962C8B-B14F-4D97-AF65-F5344CB8AC3E}">
        <p14:creationId xmlns:p14="http://schemas.microsoft.com/office/powerpoint/2010/main" val="1192208600"/>
      </p:ext>
    </p:extLst>
  </p:cSld>
</p:sld>
</file>

<file path=ppt/slides/slide14.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e programme d’entraînement">
            <a:extLst xmlns:a="http://schemas.openxmlformats.org/drawingml/2006/main">
              <a:ext uri="{FF2B5EF4-FFF2-40B4-BE49-F238E27FC236}">
                <a16:creationId xmlns:a16="http://schemas.microsoft.com/office/drawing/2014/main" id="{DD2F3F1B-B49B-47EB-9589-24DA076FCE79}"/>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Le programme d’entraînement</a:t>
            </a:r>
          </a:p>
        </p:txBody>
      </p:sp>
      <p:sp>
        <p:nvSpPr>
          <p:cNvPr id="3" name="FitBot">
            <a:extLst xmlns:a="http://schemas.openxmlformats.org/drawingml/2006/main">
              <a:ext uri="{FF2B5EF4-FFF2-40B4-BE49-F238E27FC236}">
                <a16:creationId xmlns:a16="http://schemas.microsoft.com/office/drawing/2014/main" id="{78FD3554-BDEA-4C96-A368-67C60797ADB3}"/>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4">
            <a:extLst xmlns:a="http://schemas.openxmlformats.org/drawingml/2006/main">
              <a:ext uri="{FF2B5EF4-FFF2-40B4-BE49-F238E27FC236}">
                <a16:creationId xmlns:a16="http://schemas.microsoft.com/office/drawing/2014/main" id="{2223C1D5-C376-4062-8784-BD6A8A5A121D}"/>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14</a:t>
            </a:r>
          </a:p>
        </p:txBody>
      </p:sp>
      <p:sp>
        <p:nvSpPr>
          <p:cNvPr id="5" name="Une base déterministe">
            <a:extLst xmlns:a="http://schemas.openxmlformats.org/drawingml/2006/main">
              <a:ext uri="{FF2B5EF4-FFF2-40B4-BE49-F238E27FC236}">
                <a16:creationId xmlns:a16="http://schemas.microsoft.com/office/drawing/2014/main" id="{84548395-FA76-48F2-912F-E9099967632F}"/>
              </a:ext>
            </a:extLst>
          </p:cNvPr>
          <p:cNvSpPr>
            <a:spLocks xmlns:a="http://schemas.openxmlformats.org/drawingml/2006/main" noGrp="1"/>
          </p:cNvSpPr>
          <p:nvPr/>
        </p:nvSpPr>
        <p:spPr>
          <a:xfrm xmlns:a="http://schemas.openxmlformats.org/drawingml/2006/main">
            <a:off x="609600" y="19240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Une base déterministe</a:t>
            </a:r>
          </a:p>
        </p:txBody>
      </p:sp>
      <p:sp>
        <p:nvSpPr>
          <p:cNvPr id="6" name="Génération selon le niveau, le split et les é">
            <a:extLst xmlns:a="http://schemas.openxmlformats.org/drawingml/2006/main">
              <a:ext uri="{FF2B5EF4-FFF2-40B4-BE49-F238E27FC236}">
                <a16:creationId xmlns:a16="http://schemas.microsoft.com/office/drawing/2014/main" id="{A825C7C4-52A0-4DFF-B911-D928F691D893}"/>
              </a:ext>
            </a:extLst>
          </p:cNvPr>
          <p:cNvSpPr>
            <a:spLocks xmlns:a="http://schemas.openxmlformats.org/drawingml/2006/main" noGrp="1"/>
          </p:cNvSpPr>
          <p:nvPr/>
        </p:nvSpPr>
        <p:spPr>
          <a:xfrm xmlns:a="http://schemas.openxmlformats.org/drawingml/2006/main">
            <a:off x="609600" y="23812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Génération selon le niveau, le split et les équipements.</a:t>
            </a:r>
          </a:p>
        </p:txBody>
      </p:sp>
      <p:sp>
        <p:nvSpPr>
          <p:cNvPr id="7" name="Un programme modifiable">
            <a:extLst xmlns:a="http://schemas.openxmlformats.org/drawingml/2006/main">
              <a:ext uri="{FF2B5EF4-FFF2-40B4-BE49-F238E27FC236}">
                <a16:creationId xmlns:a16="http://schemas.microsoft.com/office/drawing/2014/main" id="{3C248681-1784-44D1-B978-271F28A240E3}"/>
              </a:ext>
            </a:extLst>
          </p:cNvPr>
          <p:cNvSpPr>
            <a:spLocks xmlns:a="http://schemas.openxmlformats.org/drawingml/2006/main" noGrp="1"/>
          </p:cNvSpPr>
          <p:nvPr/>
        </p:nvSpPr>
        <p:spPr>
          <a:xfrm xmlns:a="http://schemas.openxmlformats.org/drawingml/2006/main">
            <a:off x="609600" y="38766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 programme modifiable</a:t>
            </a:r>
          </a:p>
        </p:txBody>
      </p:sp>
      <p:sp>
        <p:nvSpPr>
          <p:cNvPr id="8" name="Exercices, séries et répétitions s’enregistre">
            <a:extLst xmlns:a="http://schemas.openxmlformats.org/drawingml/2006/main">
              <a:ext uri="{FF2B5EF4-FFF2-40B4-BE49-F238E27FC236}">
                <a16:creationId xmlns:a16="http://schemas.microsoft.com/office/drawing/2014/main" id="{2855AA48-ED63-4AFA-8D4A-D8ADE37F1591}"/>
              </a:ext>
            </a:extLst>
          </p:cNvPr>
          <p:cNvSpPr>
            <a:spLocks xmlns:a="http://schemas.openxmlformats.org/drawingml/2006/main" noGrp="1"/>
          </p:cNvSpPr>
          <p:nvPr/>
        </p:nvSpPr>
        <p:spPr>
          <a:xfrm xmlns:a="http://schemas.openxmlformats.org/drawingml/2006/main">
            <a:off x="609600" y="4333875"/>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Exercices, séries et répétitions s’enregistrent dans le compte.</a:t>
            </a:r>
          </a:p>
        </p:txBody>
      </p:sp>
      <p:pic>
        <p:nvPicPr>
          <p:cNvPr id="9" name="">
            <a:extLst xmlns:a="http://schemas.openxmlformats.org/drawingml/2006/main">
              <a:ext uri="{FF2B5EF4-FFF2-40B4-BE49-F238E27FC236}">
                <a16:creationId xmlns:a16="http://schemas.microsoft.com/office/drawing/2014/main" id="{931479D1-679C-44CE-A9F3-4D055817C6A0}"/>
              </a:ext>
            </a:extLst>
          </p:cNvPr>
          <p:cNvPicPr>
            <a:picLocks xmlns:a="http://schemas.openxmlformats.org/drawingml/2006/main" noChangeAspect="1"/>
          </p:cNvPicPr>
          <p:nvPr/>
        </p:nvPicPr>
        <p:blipFill>
          <a:blip xmlns:r="http://schemas.openxmlformats.org/officeDocument/2006/relationships" xmlns:a="http://schemas.openxmlformats.org/drawingml/2006/main" r:embed="Rc62bc2f658204337"/>
          <a:stretch xmlns:a="http://schemas.openxmlformats.org/drawingml/2006/main"/>
        </p:blipFill>
        <p:spPr>
          <a:xfrm xmlns:a="http://schemas.openxmlformats.org/drawingml/2006/main">
            <a:off x="4207111" y="1495425"/>
            <a:ext cx="7368702" cy="4810125"/>
          </a:xfrm>
          <a:prstGeom xmlns:a="http://schemas.openxmlformats.org/drawingml/2006/main" prst="rect">
            <a:avLst/>
          </a:prstGeom>
        </p:spPr>
      </p:pic>
    </p:spTree>
    <p:extLst>
      <p:ext uri="{BB962C8B-B14F-4D97-AF65-F5344CB8AC3E}">
        <p14:creationId xmlns:p14="http://schemas.microsoft.com/office/powerpoint/2010/main" val="443604209"/>
      </p:ext>
    </p:extLst>
  </p:cSld>
</p:sld>
</file>

<file path=ppt/slides/slide15.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assistant IA du programme">
            <a:extLst xmlns:a="http://schemas.openxmlformats.org/drawingml/2006/main">
              <a:ext uri="{FF2B5EF4-FFF2-40B4-BE49-F238E27FC236}">
                <a16:creationId xmlns:a16="http://schemas.microsoft.com/office/drawing/2014/main" id="{B780780B-7D5A-43B8-BFD8-72C67A5AC7B0}"/>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L’assistant IA du programme</a:t>
            </a:r>
          </a:p>
        </p:txBody>
      </p:sp>
      <p:sp>
        <p:nvSpPr>
          <p:cNvPr id="3" name="FitBot">
            <a:extLst xmlns:a="http://schemas.openxmlformats.org/drawingml/2006/main">
              <a:ext uri="{FF2B5EF4-FFF2-40B4-BE49-F238E27FC236}">
                <a16:creationId xmlns:a16="http://schemas.microsoft.com/office/drawing/2014/main" id="{4BF2A95A-2EF5-48B8-BCAF-F96C88DA1AB8}"/>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5">
            <a:extLst xmlns:a="http://schemas.openxmlformats.org/drawingml/2006/main">
              <a:ext uri="{FF2B5EF4-FFF2-40B4-BE49-F238E27FC236}">
                <a16:creationId xmlns:a16="http://schemas.microsoft.com/office/drawing/2014/main" id="{D31E93B4-A836-4A48-B263-67B2DD277B07}"/>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15</a:t>
            </a:r>
          </a:p>
        </p:txBody>
      </p:sp>
      <p:sp>
        <p:nvSpPr>
          <p:cNvPr id="5" name="Repérer un déséquilibre">
            <a:extLst xmlns:a="http://schemas.openxmlformats.org/drawingml/2006/main">
              <a:ext uri="{FF2B5EF4-FFF2-40B4-BE49-F238E27FC236}">
                <a16:creationId xmlns:a16="http://schemas.microsoft.com/office/drawing/2014/main" id="{616DA788-38B9-4861-9B4F-481DE8537052}"/>
              </a:ext>
            </a:extLst>
          </p:cNvPr>
          <p:cNvSpPr>
            <a:spLocks xmlns:a="http://schemas.openxmlformats.org/drawingml/2006/main" noGrp="1"/>
          </p:cNvSpPr>
          <p:nvPr/>
        </p:nvSpPr>
        <p:spPr>
          <a:xfrm xmlns:a="http://schemas.openxmlformats.org/drawingml/2006/main">
            <a:off x="609600" y="19240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Repérer un déséquilibre</a:t>
            </a:r>
          </a:p>
        </p:txBody>
      </p:sp>
      <p:sp>
        <p:nvSpPr>
          <p:cNvPr id="6" name="Le volume par groupe musculaire guide la sugg">
            <a:extLst xmlns:a="http://schemas.openxmlformats.org/drawingml/2006/main">
              <a:ext uri="{FF2B5EF4-FFF2-40B4-BE49-F238E27FC236}">
                <a16:creationId xmlns:a16="http://schemas.microsoft.com/office/drawing/2014/main" id="{ACFEB985-66E0-45EE-BCAC-20CE86658C9C}"/>
              </a:ext>
            </a:extLst>
          </p:cNvPr>
          <p:cNvSpPr>
            <a:spLocks xmlns:a="http://schemas.openxmlformats.org/drawingml/2006/main" noGrp="1"/>
          </p:cNvSpPr>
          <p:nvPr/>
        </p:nvSpPr>
        <p:spPr>
          <a:xfrm xmlns:a="http://schemas.openxmlformats.org/drawingml/2006/main">
            <a:off x="609600" y="2381250"/>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Le volume par groupe musculaire guide la suggestion d’exercice.</a:t>
            </a:r>
          </a:p>
        </p:txBody>
      </p:sp>
      <p:sp>
        <p:nvSpPr>
          <p:cNvPr id="7" name="Expliquer le choix">
            <a:extLst xmlns:a="http://schemas.openxmlformats.org/drawingml/2006/main">
              <a:ext uri="{FF2B5EF4-FFF2-40B4-BE49-F238E27FC236}">
                <a16:creationId xmlns:a16="http://schemas.microsoft.com/office/drawing/2014/main" id="{6A531B94-8D2B-4814-9511-E62CC64B6E09}"/>
              </a:ext>
            </a:extLst>
          </p:cNvPr>
          <p:cNvSpPr>
            <a:spLocks xmlns:a="http://schemas.openxmlformats.org/drawingml/2006/main" noGrp="1"/>
          </p:cNvSpPr>
          <p:nvPr/>
        </p:nvSpPr>
        <p:spPr>
          <a:xfrm xmlns:a="http://schemas.openxmlformats.org/drawingml/2006/main">
            <a:off x="609600" y="3876675"/>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Expliquer le choix</a:t>
            </a:r>
          </a:p>
        </p:txBody>
      </p:sp>
      <p:sp>
        <p:nvSpPr>
          <p:cNvPr id="8" name="Le LLM rédige la justification. L’utilisateur">
            <a:extLst xmlns:a="http://schemas.openxmlformats.org/drawingml/2006/main">
              <a:ext uri="{FF2B5EF4-FFF2-40B4-BE49-F238E27FC236}">
                <a16:creationId xmlns:a16="http://schemas.microsoft.com/office/drawing/2014/main" id="{001DDD9F-3F4B-4DB9-A34F-A37762A061A3}"/>
              </a:ext>
            </a:extLst>
          </p:cNvPr>
          <p:cNvSpPr>
            <a:spLocks xmlns:a="http://schemas.openxmlformats.org/drawingml/2006/main" noGrp="1"/>
          </p:cNvSpPr>
          <p:nvPr/>
        </p:nvSpPr>
        <p:spPr>
          <a:xfrm xmlns:a="http://schemas.openxmlformats.org/drawingml/2006/main">
            <a:off x="609600" y="433387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Le LLM rédige la justification. L’utilisateur décide de l’ajout.</a:t>
            </a:r>
          </a:p>
        </p:txBody>
      </p:sp>
      <p:pic>
        <p:nvPicPr>
          <p:cNvPr id="9" name="">
            <a:extLst xmlns:a="http://schemas.openxmlformats.org/drawingml/2006/main">
              <a:ext uri="{FF2B5EF4-FFF2-40B4-BE49-F238E27FC236}">
                <a16:creationId xmlns:a16="http://schemas.microsoft.com/office/drawing/2014/main" id="{094E4740-CE81-41D6-8BF1-42EC59407362}"/>
              </a:ext>
            </a:extLst>
          </p:cNvPr>
          <p:cNvPicPr>
            <a:picLocks xmlns:a="http://schemas.openxmlformats.org/drawingml/2006/main" noChangeAspect="1"/>
          </p:cNvPicPr>
          <p:nvPr/>
        </p:nvPicPr>
        <p:blipFill>
          <a:blip xmlns:r="http://schemas.openxmlformats.org/officeDocument/2006/relationships" xmlns:a="http://schemas.openxmlformats.org/drawingml/2006/main" r:embed="R41c7d37f35db4ed5"/>
          <a:stretch xmlns:a="http://schemas.openxmlformats.org/drawingml/2006/main"/>
        </p:blipFill>
        <p:spPr>
          <a:xfrm xmlns:a="http://schemas.openxmlformats.org/drawingml/2006/main">
            <a:off x="6502188" y="1466850"/>
            <a:ext cx="4578773" cy="4829175"/>
          </a:xfrm>
          <a:prstGeom xmlns:a="http://schemas.openxmlformats.org/drawingml/2006/main" prst="rect">
            <a:avLst/>
          </a:prstGeom>
        </p:spPr>
      </p:pic>
    </p:spTree>
    <p:extLst>
      <p:ext uri="{BB962C8B-B14F-4D97-AF65-F5344CB8AC3E}">
        <p14:creationId xmlns:p14="http://schemas.microsoft.com/office/powerpoint/2010/main" val="1926067550"/>
      </p:ext>
    </p:extLst>
  </p:cSld>
</p:sld>
</file>

<file path=ppt/slides/slide16.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a technique des exercices">
            <a:extLst xmlns:a="http://schemas.openxmlformats.org/drawingml/2006/main">
              <a:ext uri="{FF2B5EF4-FFF2-40B4-BE49-F238E27FC236}">
                <a16:creationId xmlns:a16="http://schemas.microsoft.com/office/drawing/2014/main" id="{741F1E5A-6895-4A7E-8ADD-D8DB0B196EBC}"/>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La technique des exercices</a:t>
            </a:r>
          </a:p>
        </p:txBody>
      </p:sp>
      <p:sp>
        <p:nvSpPr>
          <p:cNvPr id="3" name="FitBot">
            <a:extLst xmlns:a="http://schemas.openxmlformats.org/drawingml/2006/main">
              <a:ext uri="{FF2B5EF4-FFF2-40B4-BE49-F238E27FC236}">
                <a16:creationId xmlns:a16="http://schemas.microsoft.com/office/drawing/2014/main" id="{B5C74349-A1A1-48F8-B169-3057B0F8E0B5}"/>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6">
            <a:extLst xmlns:a="http://schemas.openxmlformats.org/drawingml/2006/main">
              <a:ext uri="{FF2B5EF4-FFF2-40B4-BE49-F238E27FC236}">
                <a16:creationId xmlns:a16="http://schemas.microsoft.com/office/drawing/2014/main" id="{9F381838-372B-44CE-B04D-1AA7F1958533}"/>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16</a:t>
            </a:r>
          </a:p>
        </p:txBody>
      </p:sp>
      <p:sp>
        <p:nvSpPr>
          <p:cNvPr id="5" name="Un catalogue consultable">
            <a:extLst xmlns:a="http://schemas.openxmlformats.org/drawingml/2006/main">
              <a:ext uri="{FF2B5EF4-FFF2-40B4-BE49-F238E27FC236}">
                <a16:creationId xmlns:a16="http://schemas.microsoft.com/office/drawing/2014/main" id="{E156463F-839D-4DB5-8C75-63824DE39297}"/>
              </a:ext>
            </a:extLst>
          </p:cNvPr>
          <p:cNvSpPr>
            <a:spLocks xmlns:a="http://schemas.openxmlformats.org/drawingml/2006/main" noGrp="1"/>
          </p:cNvSpPr>
          <p:nvPr/>
        </p:nvSpPr>
        <p:spPr>
          <a:xfrm xmlns:a="http://schemas.openxmlformats.org/drawingml/2006/main">
            <a:off x="609600" y="19240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Un catalogue consultable</a:t>
            </a:r>
          </a:p>
        </p:txBody>
      </p:sp>
      <p:sp>
        <p:nvSpPr>
          <p:cNvPr id="6" name="Filtres par muscle, matériel et mouvement.">
            <a:extLst xmlns:a="http://schemas.openxmlformats.org/drawingml/2006/main">
              <a:ext uri="{FF2B5EF4-FFF2-40B4-BE49-F238E27FC236}">
                <a16:creationId xmlns:a16="http://schemas.microsoft.com/office/drawing/2014/main" id="{E6674CD0-042C-4F21-92CD-746F09C9F3F9}"/>
              </a:ext>
            </a:extLst>
          </p:cNvPr>
          <p:cNvSpPr>
            <a:spLocks xmlns:a="http://schemas.openxmlformats.org/drawingml/2006/main" noGrp="1"/>
          </p:cNvSpPr>
          <p:nvPr/>
        </p:nvSpPr>
        <p:spPr>
          <a:xfrm xmlns:a="http://schemas.openxmlformats.org/drawingml/2006/main">
            <a:off x="609600" y="2381250"/>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Filtres par muscle, matériel et mouvement.</a:t>
            </a:r>
          </a:p>
        </p:txBody>
      </p:sp>
      <p:sp>
        <p:nvSpPr>
          <p:cNvPr id="7" name="Des conseils contextualisés">
            <a:extLst xmlns:a="http://schemas.openxmlformats.org/drawingml/2006/main">
              <a:ext uri="{FF2B5EF4-FFF2-40B4-BE49-F238E27FC236}">
                <a16:creationId xmlns:a16="http://schemas.microsoft.com/office/drawing/2014/main" id="{EAC2FBE2-9C01-4C2E-9D40-D3F583D7F90B}"/>
              </a:ext>
            </a:extLst>
          </p:cNvPr>
          <p:cNvSpPr>
            <a:spLocks xmlns:a="http://schemas.openxmlformats.org/drawingml/2006/main" noGrp="1"/>
          </p:cNvSpPr>
          <p:nvPr/>
        </p:nvSpPr>
        <p:spPr>
          <a:xfrm xmlns:a="http://schemas.openxmlformats.org/drawingml/2006/main">
            <a:off x="609600" y="3876675"/>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Des conseils contextualisés</a:t>
            </a:r>
          </a:p>
        </p:txBody>
      </p:sp>
      <p:sp>
        <p:nvSpPr>
          <p:cNvPr id="8" name="Installation, erreurs fréquentes et questions">
            <a:extLst xmlns:a="http://schemas.openxmlformats.org/drawingml/2006/main">
              <a:ext uri="{FF2B5EF4-FFF2-40B4-BE49-F238E27FC236}">
                <a16:creationId xmlns:a16="http://schemas.microsoft.com/office/drawing/2014/main" id="{E9856761-113A-40B5-B2DC-A8EB77B06B29}"/>
              </a:ext>
            </a:extLst>
          </p:cNvPr>
          <p:cNvSpPr>
            <a:spLocks xmlns:a="http://schemas.openxmlformats.org/drawingml/2006/main" noGrp="1"/>
          </p:cNvSpPr>
          <p:nvPr/>
        </p:nvSpPr>
        <p:spPr>
          <a:xfrm xmlns:a="http://schemas.openxmlformats.org/drawingml/2006/main">
            <a:off x="609600" y="433387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Installation, erreurs fréquentes et questions transmises au coach RAG.</a:t>
            </a:r>
          </a:p>
        </p:txBody>
      </p:sp>
      <p:pic>
        <p:nvPicPr>
          <p:cNvPr id="9" name="">
            <a:extLst xmlns:a="http://schemas.openxmlformats.org/drawingml/2006/main">
              <a:ext uri="{FF2B5EF4-FFF2-40B4-BE49-F238E27FC236}">
                <a16:creationId xmlns:a16="http://schemas.microsoft.com/office/drawing/2014/main" id="{79B00D32-6204-4564-938E-183538F0615F}"/>
              </a:ext>
            </a:extLst>
          </p:cNvPr>
          <p:cNvPicPr>
            <a:picLocks xmlns:a="http://schemas.openxmlformats.org/drawingml/2006/main" noChangeAspect="1"/>
          </p:cNvPicPr>
          <p:nvPr/>
        </p:nvPicPr>
        <p:blipFill>
          <a:blip xmlns:r="http://schemas.openxmlformats.org/officeDocument/2006/relationships" xmlns:a="http://schemas.openxmlformats.org/drawingml/2006/main" r:embed="Rc63a3724c69f45ba"/>
          <a:stretch xmlns:a="http://schemas.openxmlformats.org/drawingml/2006/main"/>
        </p:blipFill>
        <p:spPr>
          <a:xfrm xmlns:a="http://schemas.openxmlformats.org/drawingml/2006/main">
            <a:off x="7311998" y="1466850"/>
            <a:ext cx="2959154" cy="4829175"/>
          </a:xfrm>
          <a:prstGeom xmlns:a="http://schemas.openxmlformats.org/drawingml/2006/main" prst="rect">
            <a:avLst/>
          </a:prstGeom>
        </p:spPr>
      </p:pic>
    </p:spTree>
    <p:extLst>
      <p:ext uri="{BB962C8B-B14F-4D97-AF65-F5344CB8AC3E}">
        <p14:creationId xmlns:p14="http://schemas.microsoft.com/office/powerpoint/2010/main" val="302406901"/>
      </p:ext>
    </p:extLst>
  </p:cSld>
</p:sld>
</file>

<file path=ppt/slides/slide17.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e suivi et le diagnostic de plateau">
            <a:extLst xmlns:a="http://schemas.openxmlformats.org/drawingml/2006/main">
              <a:ext uri="{FF2B5EF4-FFF2-40B4-BE49-F238E27FC236}">
                <a16:creationId xmlns:a16="http://schemas.microsoft.com/office/drawing/2014/main" id="{B6A4A898-9F7C-4146-BC5E-7380C06A62ED}"/>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Le suivi et le diagnostic de plateau</a:t>
            </a:r>
          </a:p>
        </p:txBody>
      </p:sp>
      <p:sp>
        <p:nvSpPr>
          <p:cNvPr id="3" name="FitBot">
            <a:extLst xmlns:a="http://schemas.openxmlformats.org/drawingml/2006/main">
              <a:ext uri="{FF2B5EF4-FFF2-40B4-BE49-F238E27FC236}">
                <a16:creationId xmlns:a16="http://schemas.microsoft.com/office/drawing/2014/main" id="{16207CCF-A3DA-40D6-9343-B519A838D9F1}"/>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7">
            <a:extLst xmlns:a="http://schemas.openxmlformats.org/drawingml/2006/main">
              <a:ext uri="{FF2B5EF4-FFF2-40B4-BE49-F238E27FC236}">
                <a16:creationId xmlns:a16="http://schemas.microsoft.com/office/drawing/2014/main" id="{12DA3256-FD03-41F8-A9F9-E6E3069800DA}"/>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17</a:t>
            </a:r>
          </a:p>
        </p:txBody>
      </p:sp>
      <p:sp>
        <p:nvSpPr>
          <p:cNvPr id="5" name="Lire la tendance">
            <a:extLst xmlns:a="http://schemas.openxmlformats.org/drawingml/2006/main">
              <a:ext uri="{FF2B5EF4-FFF2-40B4-BE49-F238E27FC236}">
                <a16:creationId xmlns:a16="http://schemas.microsoft.com/office/drawing/2014/main" id="{72F6FBE3-0883-41B9-978F-76ECEFBF0EAD}"/>
              </a:ext>
            </a:extLst>
          </p:cNvPr>
          <p:cNvSpPr>
            <a:spLocks xmlns:a="http://schemas.openxmlformats.org/drawingml/2006/main" noGrp="1"/>
          </p:cNvSpPr>
          <p:nvPr/>
        </p:nvSpPr>
        <p:spPr>
          <a:xfrm xmlns:a="http://schemas.openxmlformats.org/drawingml/2006/main">
            <a:off x="609600" y="19240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Lire la tendance</a:t>
            </a:r>
          </a:p>
        </p:txBody>
      </p:sp>
      <p:sp>
        <p:nvSpPr>
          <p:cNvPr id="6" name="Historique des charges, répétitions, RPE et e">
            <a:extLst xmlns:a="http://schemas.openxmlformats.org/drawingml/2006/main">
              <a:ext uri="{FF2B5EF4-FFF2-40B4-BE49-F238E27FC236}">
                <a16:creationId xmlns:a16="http://schemas.microsoft.com/office/drawing/2014/main" id="{9982F0F1-31F3-46D8-B548-8482FB0F098F}"/>
              </a:ext>
            </a:extLst>
          </p:cNvPr>
          <p:cNvSpPr>
            <a:spLocks xmlns:a="http://schemas.openxmlformats.org/drawingml/2006/main" noGrp="1"/>
          </p:cNvSpPr>
          <p:nvPr/>
        </p:nvSpPr>
        <p:spPr>
          <a:xfrm xmlns:a="http://schemas.openxmlformats.org/drawingml/2006/main">
            <a:off x="609600" y="23812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Historique des charges, répétitions, RPE et estimation du 1RM.</a:t>
            </a:r>
          </a:p>
        </p:txBody>
      </p:sp>
      <p:sp>
        <p:nvSpPr>
          <p:cNvPr id="7" name="Adapter la séance">
            <a:extLst xmlns:a="http://schemas.openxmlformats.org/drawingml/2006/main">
              <a:ext uri="{FF2B5EF4-FFF2-40B4-BE49-F238E27FC236}">
                <a16:creationId xmlns:a16="http://schemas.microsoft.com/office/drawing/2014/main" id="{9C7BB5F9-67BF-40F3-A4D7-1E863658AE1E}"/>
              </a:ext>
            </a:extLst>
          </p:cNvPr>
          <p:cNvSpPr>
            <a:spLocks xmlns:a="http://schemas.openxmlformats.org/drawingml/2006/main" noGrp="1"/>
          </p:cNvSpPr>
          <p:nvPr/>
        </p:nvSpPr>
        <p:spPr>
          <a:xfrm xmlns:a="http://schemas.openxmlformats.org/drawingml/2006/main">
            <a:off x="609600" y="38766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Adapter la séance</a:t>
            </a:r>
          </a:p>
        </p:txBody>
      </p:sp>
      <p:sp>
        <p:nvSpPr>
          <p:cNvPr id="8" name="Python détermine une stratégie autorisée et l">
            <a:extLst xmlns:a="http://schemas.openxmlformats.org/drawingml/2006/main">
              <a:ext uri="{FF2B5EF4-FFF2-40B4-BE49-F238E27FC236}">
                <a16:creationId xmlns:a16="http://schemas.microsoft.com/office/drawing/2014/main" id="{FF8D2132-4492-4AB2-A479-01B0E4E18690}"/>
              </a:ext>
            </a:extLst>
          </p:cNvPr>
          <p:cNvSpPr>
            <a:spLocks xmlns:a="http://schemas.openxmlformats.org/drawingml/2006/main" noGrp="1"/>
          </p:cNvSpPr>
          <p:nvPr/>
        </p:nvSpPr>
        <p:spPr>
          <a:xfrm xmlns:a="http://schemas.openxmlformats.org/drawingml/2006/main">
            <a:off x="609600" y="4333875"/>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Python détermine une stratégie autorisée et les charges. L’IA explique les signaux.</a:t>
            </a:r>
          </a:p>
        </p:txBody>
      </p:sp>
      <p:pic>
        <p:nvPicPr>
          <p:cNvPr id="9" name="">
            <a:extLst xmlns:a="http://schemas.openxmlformats.org/drawingml/2006/main">
              <a:ext uri="{FF2B5EF4-FFF2-40B4-BE49-F238E27FC236}">
                <a16:creationId xmlns:a16="http://schemas.microsoft.com/office/drawing/2014/main" id="{9C3D0AE5-F720-4BCC-A71F-8A8F5D77D2DB}"/>
              </a:ext>
            </a:extLst>
          </p:cNvPr>
          <p:cNvPicPr>
            <a:picLocks xmlns:a="http://schemas.openxmlformats.org/drawingml/2006/main" noChangeAspect="1"/>
          </p:cNvPicPr>
          <p:nvPr/>
        </p:nvPicPr>
        <p:blipFill>
          <a:blip xmlns:r="http://schemas.openxmlformats.org/officeDocument/2006/relationships" xmlns:a="http://schemas.openxmlformats.org/drawingml/2006/main" r:embed="R2a58f5bb64d24e30"/>
          <a:stretch xmlns:a="http://schemas.openxmlformats.org/drawingml/2006/main"/>
        </p:blipFill>
        <p:spPr>
          <a:xfrm xmlns:a="http://schemas.openxmlformats.org/drawingml/2006/main">
            <a:off x="4207111" y="1495425"/>
            <a:ext cx="7368702" cy="4810125"/>
          </a:xfrm>
          <a:prstGeom xmlns:a="http://schemas.openxmlformats.org/drawingml/2006/main" prst="rect">
            <a:avLst/>
          </a:prstGeom>
        </p:spPr>
      </p:pic>
    </p:spTree>
    <p:extLst>
      <p:ext uri="{BB962C8B-B14F-4D97-AF65-F5344CB8AC3E}">
        <p14:creationId xmlns:p14="http://schemas.microsoft.com/office/powerpoint/2010/main" val="1114787396"/>
      </p:ext>
    </p:extLst>
  </p:cSld>
</p:sld>
</file>

<file path=ppt/slides/slide18.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Comment nous améliorons la sortie IA">
            <a:extLst xmlns:a="http://schemas.openxmlformats.org/drawingml/2006/main">
              <a:ext uri="{FF2B5EF4-FFF2-40B4-BE49-F238E27FC236}">
                <a16:creationId xmlns:a16="http://schemas.microsoft.com/office/drawing/2014/main" id="{F769109D-580E-412C-BD5C-7272A9349CFA}"/>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Comment nous améliorons la sortie IA</a:t>
            </a:r>
          </a:p>
        </p:txBody>
      </p:sp>
      <p:sp>
        <p:nvSpPr>
          <p:cNvPr id="3" name="FitBot">
            <a:extLst xmlns:a="http://schemas.openxmlformats.org/drawingml/2006/main">
              <a:ext uri="{FF2B5EF4-FFF2-40B4-BE49-F238E27FC236}">
                <a16:creationId xmlns:a16="http://schemas.microsoft.com/office/drawing/2014/main" id="{1FDD29B2-9540-4AF3-A2F8-DDDDB4EC461E}"/>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8">
            <a:extLst xmlns:a="http://schemas.openxmlformats.org/drawingml/2006/main">
              <a:ext uri="{FF2B5EF4-FFF2-40B4-BE49-F238E27FC236}">
                <a16:creationId xmlns:a16="http://schemas.microsoft.com/office/drawing/2014/main" id="{E5C6887C-EA50-4754-907F-BAD7652C9DF1}"/>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18</a:t>
            </a:r>
          </a:p>
        </p:txBody>
      </p:sp>
      <p:graphicFrame>
        <p:nvGraphicFramePr>
          <p:cNvPr id="5" name="">
            <a:extLst xmlns:a="http://schemas.openxmlformats.org/drawingml/2006/main">
              <a:ext uri="{FF2B5EF4-FFF2-40B4-BE49-F238E27FC236}">
                <a16:creationId xmlns:a16="http://schemas.microsoft.com/office/drawing/2014/main" id="{F311EF45-5E97-4914-8FFF-C1B4542A1327}"/>
              </a:ext>
            </a:extLst>
          </p:cNvPr>
          <p:cNvGraphicFramePr/>
          <p:nvPr/>
        </p:nvGraphicFramePr>
        <p:xfrm>
          <a:off xmlns:a="http://schemas.openxmlformats.org/drawingml/2006/main" x="609600" y="1743075"/>
          <a:ext xmlns:a="http://schemas.openxmlformats.org/drawingml/2006/main" cx="10972800" cy="3905250"/>
        </p:xfrm>
        <a:graphic xmlns:a="http://schemas.openxmlformats.org/drawingml/2006/main">
          <a:graphicData uri="http://schemas.openxmlformats.org/drawingml/2006/table">
            <a:tbl>
              <a:tblPr/>
              <a:tblGrid>
                <a:gridCol w="3476625"/>
                <a:gridCol w="7496175"/>
              </a:tblGrid>
              <a:tr h="650875">
                <a:tc>
                  <a:txBody>
                    <a:bodyPr/>
                    <a:lstStyle/>
                    <a:p>
                      <a:r>
                        <a:rPr sz="1875" b="1">
                          <a:solidFill>
                            <a:srgbClr val="70E4CE"/>
                          </a:solidFill>
                        </a:rPr>
                        <a:t>Mécanisme</a:t>
                      </a:r>
                    </a:p>
                  </a:txBody>
                  <a:tcPr marL="171450" marR="171450" marT="114300" marB="114300" anchor="ctr">
                    <a:lnL w="9525">
                      <a:solidFill>
                        <a:srgbClr val="2B3A50"/>
                      </a:solidFill>
                      <a:prstDash val="solid"/>
                    </a:lnL>
                    <a:lnR w="9525">
                      <a:solidFill>
                        <a:srgbClr val="2B3A50"/>
                      </a:solidFill>
                      <a:prstDash val="solid"/>
                    </a:lnR>
                    <a:lnT w="9525">
                      <a:solidFill>
                        <a:srgbClr val="2B3A50"/>
                      </a:solidFill>
                      <a:prstDash val="solid"/>
                    </a:lnT>
                    <a:lnB w="9525">
                      <a:solidFill>
                        <a:srgbClr val="2B3A50"/>
                      </a:solidFill>
                      <a:prstDash val="solid"/>
                    </a:lnB>
                    <a:solidFill>
                      <a:srgbClr val="0C1422"/>
                    </a:solidFill>
                  </a:tcPr>
                </a:tc>
                <a:tc>
                  <a:txBody>
                    <a:bodyPr/>
                    <a:lstStyle/>
                    <a:p>
                      <a:r>
                        <a:rPr sz="1875" b="1">
                          <a:solidFill>
                            <a:srgbClr val="70E4CE"/>
                          </a:solidFill>
                        </a:rPr>
                        <a:t>Effet recherché</a:t>
                      </a:r>
                    </a:p>
                  </a:txBody>
                  <a:tcPr marL="171450" marR="171450" marT="114300" marB="114300" anchor="ctr">
                    <a:lnR w="9525">
                      <a:solidFill>
                        <a:srgbClr val="2B3A50"/>
                      </a:solidFill>
                      <a:prstDash val="solid"/>
                    </a:lnR>
                    <a:lnT w="9525">
                      <a:solidFill>
                        <a:srgbClr val="2B3A50"/>
                      </a:solidFill>
                      <a:prstDash val="solid"/>
                    </a:lnT>
                    <a:lnB w="9525">
                      <a:solidFill>
                        <a:srgbClr val="2B3A50"/>
                      </a:solidFill>
                      <a:prstDash val="solid"/>
                    </a:lnB>
                    <a:solidFill>
                      <a:srgbClr val="0C1422"/>
                    </a:solidFill>
                  </a:tcPr>
                </a:tc>
              </a:tr>
              <a:tr h="650875">
                <a:tc>
                  <a:txBody>
                    <a:bodyPr/>
                    <a:lstStyle/>
                    <a:p>
                      <a:r>
                        <a:rPr sz="1800" b="1">
                          <a:solidFill>
                            <a:srgbClr val="F7FAFC"/>
                          </a:solidFill>
                        </a:rPr>
                        <a:t>Contexte ciblé par le RAG</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Limiter les passages inutiles et permettre la vérification des sources</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r h="650875">
                <a:tc>
                  <a:txBody>
                    <a:bodyPr/>
                    <a:lstStyle/>
                    <a:p>
                      <a:r>
                        <a:rPr sz="1800" b="1">
                          <a:solidFill>
                            <a:srgbClr val="F7FAFC"/>
                          </a:solidFill>
                        </a:rPr>
                        <a:t>Prompts spécialisés</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Séparer faits, résultats calculés, contexte et règles de réponse</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r h="650875">
                <a:tc>
                  <a:txBody>
                    <a:bodyPr/>
                    <a:lstStyle/>
                    <a:p>
                      <a:r>
                        <a:rPr sz="1800" b="1">
                          <a:solidFill>
                            <a:srgbClr val="F7FAFC"/>
                          </a:solidFill>
                        </a:rPr>
                        <a:t>JSON et validation Pydantic</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Contrôler les formats, les types et les bornes numériques</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r h="650875">
                <a:tc>
                  <a:txBody>
                    <a:bodyPr/>
                    <a:lstStyle/>
                    <a:p>
                      <a:r>
                        <a:rPr sz="1800" b="1">
                          <a:solidFill>
                            <a:srgbClr val="F7FAFC"/>
                          </a:solidFill>
                        </a:rPr>
                        <a:t>Température 0,3 pour le plateau</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Rendre les explications de ce module plus régulières</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r h="650875">
                <a:tc>
                  <a:txBody>
                    <a:bodyPr/>
                    <a:lstStyle/>
                    <a:p>
                      <a:r>
                        <a:rPr sz="1800" b="1">
                          <a:solidFill>
                            <a:srgbClr val="F7FAFC"/>
                          </a:solidFill>
                        </a:rPr>
                        <a:t>Mémoire limitée et budget de temps</a:t>
                      </a:r>
                    </a:p>
                  </a:txBody>
                  <a:tcPr marL="171450" marR="171450" marT="114300" marB="114300" anchor="ctr">
                    <a:lnL w="9525">
                      <a:solidFill>
                        <a:srgbClr val="2B3A50"/>
                      </a:solidFill>
                      <a:prstDash val="solid"/>
                    </a:lnL>
                    <a:lnR w="9525">
                      <a:solidFill>
                        <a:srgbClr val="2B3A50"/>
                      </a:solidFill>
                      <a:prstDash val="solid"/>
                    </a:lnR>
                    <a:lnB w="9525">
                      <a:solidFill>
                        <a:srgbClr val="2B3A50"/>
                      </a:solidFill>
                      <a:prstDash val="solid"/>
                    </a:lnB>
                    <a:solidFill>
                      <a:srgbClr val="0C1422"/>
                    </a:solidFill>
                  </a:tcPr>
                </a:tc>
                <a:tc>
                  <a:txBody>
                    <a:bodyPr/>
                    <a:lstStyle/>
                    <a:p>
                      <a:r>
                        <a:rPr sz="1800" b="0">
                          <a:solidFill>
                            <a:srgbClr val="B4C2D6"/>
                          </a:solidFill>
                        </a:rPr>
                        <a:t>Conserver six messages et partager un délai global de 30 s</a:t>
                      </a:r>
                    </a:p>
                  </a:txBody>
                  <a:tcPr marL="171450" marR="171450" marT="114300" marB="114300" anchor="ctr">
                    <a:lnR w="9525">
                      <a:solidFill>
                        <a:srgbClr val="2B3A50"/>
                      </a:solidFill>
                      <a:prstDash val="solid"/>
                    </a:lnR>
                    <a:lnB w="9525">
                      <a:solidFill>
                        <a:srgbClr val="2B3A50"/>
                      </a:solidFill>
                      <a:prstDash val="solid"/>
                    </a:lnB>
                    <a:solidFill>
                      <a:srgbClr val="0C1422"/>
                    </a:solidFill>
                  </a:tcPr>
                </a:tc>
              </a:tr>
            </a:tbl>
          </a:graphicData>
        </a:graphic>
      </p:graphicFrame>
    </p:spTree>
    <p:extLst>
      <p:ext uri="{BB962C8B-B14F-4D97-AF65-F5344CB8AC3E}">
        <p14:creationId xmlns:p14="http://schemas.microsoft.com/office/powerpoint/2010/main" val="1676034918"/>
      </p:ext>
    </p:extLst>
  </p:cSld>
</p:sld>
</file>

<file path=ppt/slides/slide19.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Validation et protection des données">
            <a:extLst xmlns:a="http://schemas.openxmlformats.org/drawingml/2006/main">
              <a:ext uri="{FF2B5EF4-FFF2-40B4-BE49-F238E27FC236}">
                <a16:creationId xmlns:a16="http://schemas.microsoft.com/office/drawing/2014/main" id="{A8A45EA7-9145-428D-8468-CE177ADDF49C}"/>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Validation et protection des données</a:t>
            </a:r>
          </a:p>
        </p:txBody>
      </p:sp>
      <p:sp>
        <p:nvSpPr>
          <p:cNvPr id="3" name="FitBot">
            <a:extLst xmlns:a="http://schemas.openxmlformats.org/drawingml/2006/main">
              <a:ext uri="{FF2B5EF4-FFF2-40B4-BE49-F238E27FC236}">
                <a16:creationId xmlns:a16="http://schemas.microsoft.com/office/drawing/2014/main" id="{7A6523F4-4BCE-4E92-93BA-107358132F17}"/>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19">
            <a:extLst xmlns:a="http://schemas.openxmlformats.org/drawingml/2006/main">
              <a:ext uri="{FF2B5EF4-FFF2-40B4-BE49-F238E27FC236}">
                <a16:creationId xmlns:a16="http://schemas.microsoft.com/office/drawing/2014/main" id="{0CDF74C9-C818-42CB-8BA5-12F307B11D3E}"/>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19</a:t>
            </a:r>
          </a:p>
        </p:txBody>
      </p:sp>
      <p:sp>
        <p:nvSpPr>
          <p:cNvPr id="5" name="341">
            <a:extLst xmlns:a="http://schemas.openxmlformats.org/drawingml/2006/main">
              <a:ext uri="{FF2B5EF4-FFF2-40B4-BE49-F238E27FC236}">
                <a16:creationId xmlns:a16="http://schemas.microsoft.com/office/drawing/2014/main" id="{9A8CDAF6-5003-46B2-BA69-AAB6657CC2CA}"/>
              </a:ext>
            </a:extLst>
          </p:cNvPr>
          <p:cNvSpPr>
            <a:spLocks xmlns:a="http://schemas.openxmlformats.org/drawingml/2006/main" noGrp="1"/>
          </p:cNvSpPr>
          <p:nvPr/>
        </p:nvSpPr>
        <p:spPr>
          <a:xfrm xmlns:a="http://schemas.openxmlformats.org/drawingml/2006/main">
            <a:off x="628650" y="1666875"/>
            <a:ext cx="4572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650" b="1">
                <a:solidFill>
                  <a:srgbClr val="70E4CE"/>
                </a:solidFill>
              </a:defRPr>
            </a:defPPr>
            <a:lvl1pPr>
              <a:defRPr sz="10650" b="1">
                <a:solidFill>
                  <a:srgbClr val="70E4CE"/>
                </a:solidFill>
              </a:defRPr>
            </a:lvl1pPr>
            <a:lvl2pPr>
              <a:defRPr sz="10650" b="1">
                <a:solidFill>
                  <a:srgbClr val="70E4CE"/>
                </a:solidFill>
              </a:defRPr>
            </a:lvl2pPr>
            <a:lvl3pPr>
              <a:defRPr sz="10650" b="1">
                <a:solidFill>
                  <a:srgbClr val="70E4CE"/>
                </a:solidFill>
              </a:defRPr>
            </a:lvl3pPr>
            <a:lvl4pPr>
              <a:defRPr sz="10650" b="1">
                <a:solidFill>
                  <a:srgbClr val="70E4CE"/>
                </a:solidFill>
              </a:defRPr>
            </a:lvl4pPr>
            <a:lvl5pPr>
              <a:defRPr sz="10650" b="1">
                <a:solidFill>
                  <a:srgbClr val="70E4CE"/>
                </a:solidFill>
              </a:defRPr>
            </a:lvl5pPr>
            <a:lvl6pPr>
              <a:defRPr sz="10650" b="1">
                <a:solidFill>
                  <a:srgbClr val="70E4CE"/>
                </a:solidFill>
              </a:defRPr>
            </a:lvl6pPr>
            <a:lvl7pPr>
              <a:defRPr sz="10650" b="1">
                <a:solidFill>
                  <a:srgbClr val="70E4CE"/>
                </a:solidFill>
              </a:defRPr>
            </a:lvl7pPr>
            <a:lvl8pPr>
              <a:defRPr sz="10650" b="1">
                <a:solidFill>
                  <a:srgbClr val="70E4CE"/>
                </a:solidFill>
              </a:defRPr>
            </a:lvl8pPr>
            <a:lvl9pPr>
              <a:defRPr sz="10650" b="1">
                <a:solidFill>
                  <a:srgbClr val="70E4CE"/>
                </a:solidFill>
              </a:defRPr>
            </a:lvl9pPr>
          </a:lstStyle>
          <a:p xmlns:a="http://schemas.openxmlformats.org/drawingml/2006/main">
            <a:pPr>
              <a:defRPr sz="10650" b="1">
                <a:solidFill>
                  <a:srgbClr val="70E4CE"/>
                </a:solidFill>
              </a:defRPr>
            </a:pPr>
            <a:r>
              <a:rPr sz="10650" b="1">
                <a:solidFill>
                  <a:srgbClr val="70E4CE"/>
                </a:solidFill>
              </a:rPr>
              <a:t>341</a:t>
            </a:r>
          </a:p>
        </p:txBody>
      </p:sp>
      <p:sp>
        <p:nvSpPr>
          <p:cNvPr id="6" name="tests automatisés réussis">
            <a:extLst xmlns:a="http://schemas.openxmlformats.org/drawingml/2006/main">
              <a:ext uri="{FF2B5EF4-FFF2-40B4-BE49-F238E27FC236}">
                <a16:creationId xmlns:a16="http://schemas.microsoft.com/office/drawing/2014/main" id="{7C14882F-6563-4080-9CB9-A0154C02540C}"/>
              </a:ext>
            </a:extLst>
          </p:cNvPr>
          <p:cNvSpPr>
            <a:spLocks xmlns:a="http://schemas.openxmlformats.org/drawingml/2006/main" noGrp="1"/>
          </p:cNvSpPr>
          <p:nvPr/>
        </p:nvSpPr>
        <p:spPr>
          <a:xfrm xmlns:a="http://schemas.openxmlformats.org/drawingml/2006/main">
            <a:off x="685800" y="3457575"/>
            <a:ext cx="4524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F7FAFC"/>
                </a:solidFill>
              </a:defRPr>
            </a:defPPr>
            <a:lvl1pPr>
              <a:defRPr sz="2550" b="1">
                <a:solidFill>
                  <a:srgbClr val="F7FAFC"/>
                </a:solidFill>
              </a:defRPr>
            </a:lvl1pPr>
            <a:lvl2pPr>
              <a:defRPr sz="2550" b="1">
                <a:solidFill>
                  <a:srgbClr val="F7FAFC"/>
                </a:solidFill>
              </a:defRPr>
            </a:lvl2pPr>
            <a:lvl3pPr>
              <a:defRPr sz="2550" b="1">
                <a:solidFill>
                  <a:srgbClr val="F7FAFC"/>
                </a:solidFill>
              </a:defRPr>
            </a:lvl3pPr>
            <a:lvl4pPr>
              <a:defRPr sz="2550" b="1">
                <a:solidFill>
                  <a:srgbClr val="F7FAFC"/>
                </a:solidFill>
              </a:defRPr>
            </a:lvl4pPr>
            <a:lvl5pPr>
              <a:defRPr sz="2550" b="1">
                <a:solidFill>
                  <a:srgbClr val="F7FAFC"/>
                </a:solidFill>
              </a:defRPr>
            </a:lvl5pPr>
            <a:lvl6pPr>
              <a:defRPr sz="2550" b="1">
                <a:solidFill>
                  <a:srgbClr val="F7FAFC"/>
                </a:solidFill>
              </a:defRPr>
            </a:lvl6pPr>
            <a:lvl7pPr>
              <a:defRPr sz="2550" b="1">
                <a:solidFill>
                  <a:srgbClr val="F7FAFC"/>
                </a:solidFill>
              </a:defRPr>
            </a:lvl7pPr>
            <a:lvl8pPr>
              <a:defRPr sz="2550" b="1">
                <a:solidFill>
                  <a:srgbClr val="F7FAFC"/>
                </a:solidFill>
              </a:defRPr>
            </a:lvl8pPr>
            <a:lvl9pPr>
              <a:defRPr sz="2550" b="1">
                <a:solidFill>
                  <a:srgbClr val="F7FAFC"/>
                </a:solidFill>
              </a:defRPr>
            </a:lvl9pPr>
          </a:lstStyle>
          <a:p xmlns:a="http://schemas.openxmlformats.org/drawingml/2006/main">
            <a:pPr>
              <a:defRPr sz="2550" b="1">
                <a:solidFill>
                  <a:srgbClr val="F7FAFC"/>
                </a:solidFill>
              </a:defRPr>
            </a:pPr>
            <a:r>
              <a:rPr sz="2550" b="1">
                <a:solidFill>
                  <a:srgbClr val="F7FAFC"/>
                </a:solidFill>
              </a:rPr>
              <a:t>tests automatisés réussis</a:t>
            </a:r>
          </a:p>
        </p:txBody>
      </p:sp>
      <p:sp>
        <p:nvSpPr>
          <p:cNvPr id="7" name="Suite exécutée le 26 octobre 2026">
            <a:extLst xmlns:a="http://schemas.openxmlformats.org/drawingml/2006/main">
              <a:ext uri="{FF2B5EF4-FFF2-40B4-BE49-F238E27FC236}">
                <a16:creationId xmlns:a16="http://schemas.microsoft.com/office/drawing/2014/main" id="{A548133B-3EED-4BE4-94D6-FFB6A032A065}"/>
              </a:ext>
            </a:extLst>
          </p:cNvPr>
          <p:cNvSpPr>
            <a:spLocks xmlns:a="http://schemas.openxmlformats.org/drawingml/2006/main" noGrp="1"/>
          </p:cNvSpPr>
          <p:nvPr/>
        </p:nvSpPr>
        <p:spPr>
          <a:xfrm xmlns:a="http://schemas.openxmlformats.org/drawingml/2006/main">
            <a:off x="685800" y="506730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4C2D6"/>
                </a:solidFill>
              </a:defRPr>
            </a:defPPr>
            <a:lvl1pPr>
              <a:defRPr sz="1650" b="0">
                <a:solidFill>
                  <a:srgbClr val="B4C2D6"/>
                </a:solidFill>
              </a:defRPr>
            </a:lvl1pPr>
            <a:lvl2pPr>
              <a:defRPr sz="1650" b="0">
                <a:solidFill>
                  <a:srgbClr val="B4C2D6"/>
                </a:solidFill>
              </a:defRPr>
            </a:lvl2pPr>
            <a:lvl3pPr>
              <a:defRPr sz="1650" b="0">
                <a:solidFill>
                  <a:srgbClr val="B4C2D6"/>
                </a:solidFill>
              </a:defRPr>
            </a:lvl3pPr>
            <a:lvl4pPr>
              <a:defRPr sz="1650" b="0">
                <a:solidFill>
                  <a:srgbClr val="B4C2D6"/>
                </a:solidFill>
              </a:defRPr>
            </a:lvl4pPr>
            <a:lvl5pPr>
              <a:defRPr sz="1650" b="0">
                <a:solidFill>
                  <a:srgbClr val="B4C2D6"/>
                </a:solidFill>
              </a:defRPr>
            </a:lvl5pPr>
            <a:lvl6pPr>
              <a:defRPr sz="1650" b="0">
                <a:solidFill>
                  <a:srgbClr val="B4C2D6"/>
                </a:solidFill>
              </a:defRPr>
            </a:lvl6pPr>
            <a:lvl7pPr>
              <a:defRPr sz="1650" b="0">
                <a:solidFill>
                  <a:srgbClr val="B4C2D6"/>
                </a:solidFill>
              </a:defRPr>
            </a:lvl7pPr>
            <a:lvl8pPr>
              <a:defRPr sz="1650" b="0">
                <a:solidFill>
                  <a:srgbClr val="B4C2D6"/>
                </a:solidFill>
              </a:defRPr>
            </a:lvl8pPr>
            <a:lvl9pPr>
              <a:defRPr sz="1650" b="0">
                <a:solidFill>
                  <a:srgbClr val="B4C2D6"/>
                </a:solidFill>
              </a:defRPr>
            </a:lvl9pPr>
          </a:lstStyle>
          <a:p xmlns:a="http://schemas.openxmlformats.org/drawingml/2006/main">
            <a:pPr>
              <a:defRPr sz="1650" b="0">
                <a:solidFill>
                  <a:srgbClr val="B4C2D6"/>
                </a:solidFill>
              </a:defRPr>
            </a:pPr>
            <a:r>
              <a:rPr sz="1650" b="0">
                <a:solidFill>
                  <a:srgbClr val="B4C2D6"/>
                </a:solidFill>
              </a:rPr>
              <a:t>Suite exécutée le 26 octobre 2026</a:t>
            </a:r>
          </a:p>
        </p:txBody>
      </p:sp>
      <p:sp>
        <p:nvSpPr>
          <p:cNvPr id="8" name="Les fonctions et les accès">
            <a:extLst xmlns:a="http://schemas.openxmlformats.org/drawingml/2006/main">
              <a:ext uri="{FF2B5EF4-FFF2-40B4-BE49-F238E27FC236}">
                <a16:creationId xmlns:a16="http://schemas.microsoft.com/office/drawing/2014/main" id="{110B98D0-D30D-4F1C-9C7D-0AA5D1DC111A}"/>
              </a:ext>
            </a:extLst>
          </p:cNvPr>
          <p:cNvSpPr>
            <a:spLocks xmlns:a="http://schemas.openxmlformats.org/drawingml/2006/main" noGrp="1"/>
          </p:cNvSpPr>
          <p:nvPr/>
        </p:nvSpPr>
        <p:spPr>
          <a:xfrm xmlns:a="http://schemas.openxmlformats.org/drawingml/2006/main">
            <a:off x="6191250" y="18478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Les fonctions et les accès</a:t>
            </a:r>
          </a:p>
        </p:txBody>
      </p:sp>
      <p:sp>
        <p:nvSpPr>
          <p:cNvPr id="9" name="Calculs, API, historique, nouveaux modules et">
            <a:extLst xmlns:a="http://schemas.openxmlformats.org/drawingml/2006/main">
              <a:ext uri="{FF2B5EF4-FFF2-40B4-BE49-F238E27FC236}">
                <a16:creationId xmlns:a16="http://schemas.microsoft.com/office/drawing/2014/main" id="{2544F116-D540-4821-81C9-292ED1167BBA}"/>
              </a:ext>
            </a:extLst>
          </p:cNvPr>
          <p:cNvSpPr>
            <a:spLocks xmlns:a="http://schemas.openxmlformats.org/drawingml/2006/main" noGrp="1"/>
          </p:cNvSpPr>
          <p:nvPr/>
        </p:nvSpPr>
        <p:spPr>
          <a:xfrm xmlns:a="http://schemas.openxmlformats.org/drawingml/2006/main">
            <a:off x="6191250" y="2305050"/>
            <a:ext cx="5095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Calculs, API, historique, nouveaux modules et isolation entre comptes.</a:t>
            </a:r>
          </a:p>
        </p:txBody>
      </p:sp>
      <p:sp>
        <p:nvSpPr>
          <p:cNvPr id="10" name="Les limites du test">
            <a:extLst xmlns:a="http://schemas.openxmlformats.org/drawingml/2006/main">
              <a:ext uri="{FF2B5EF4-FFF2-40B4-BE49-F238E27FC236}">
                <a16:creationId xmlns:a16="http://schemas.microsoft.com/office/drawing/2014/main" id="{2AEE794F-5AF5-4A02-86CE-6B804DBE1B84}"/>
              </a:ext>
            </a:extLst>
          </p:cNvPr>
          <p:cNvSpPr>
            <a:spLocks xmlns:a="http://schemas.openxmlformats.org/drawingml/2006/main" noGrp="1"/>
          </p:cNvSpPr>
          <p:nvPr/>
        </p:nvSpPr>
        <p:spPr>
          <a:xfrm xmlns:a="http://schemas.openxmlformats.org/drawingml/2006/main">
            <a:off x="6191250" y="38576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Les limites du test</a:t>
            </a:r>
          </a:p>
        </p:txBody>
      </p:sp>
      <p:sp>
        <p:nvSpPr>
          <p:cNvPr id="11" name="Deux tests ignorés. Les tests simulant le LLM">
            <a:extLst xmlns:a="http://schemas.openxmlformats.org/drawingml/2006/main">
              <a:ext uri="{FF2B5EF4-FFF2-40B4-BE49-F238E27FC236}">
                <a16:creationId xmlns:a16="http://schemas.microsoft.com/office/drawing/2014/main" id="{1928AEC5-76D0-42D3-A5A0-32770AEDC69E}"/>
              </a:ext>
            </a:extLst>
          </p:cNvPr>
          <p:cNvSpPr>
            <a:spLocks xmlns:a="http://schemas.openxmlformats.org/drawingml/2006/main" noGrp="1"/>
          </p:cNvSpPr>
          <p:nvPr/>
        </p:nvSpPr>
        <p:spPr>
          <a:xfrm xmlns:a="http://schemas.openxmlformats.org/drawingml/2006/main">
            <a:off x="6191250" y="4314825"/>
            <a:ext cx="5095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Deux tests ignorés. Les tests simulant le LLM ne mesurent pas la qualité de chaque conseil.</a:t>
            </a:r>
          </a:p>
        </p:txBody>
      </p:sp>
    </p:spTree>
    <p:extLst>
      <p:ext uri="{BB962C8B-B14F-4D97-AF65-F5344CB8AC3E}">
        <p14:creationId xmlns:p14="http://schemas.microsoft.com/office/powerpoint/2010/main" val="1115047879"/>
      </p:ext>
    </p:extLst>
  </p:cSld>
</p:sld>
</file>

<file path=ppt/slides/slide20.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Limites et prochaines évolutions">
            <a:extLst xmlns:a="http://schemas.openxmlformats.org/drawingml/2006/main">
              <a:ext uri="{FF2B5EF4-FFF2-40B4-BE49-F238E27FC236}">
                <a16:creationId xmlns:a16="http://schemas.microsoft.com/office/drawing/2014/main" id="{5603B3E8-2AC5-4675-9079-F261B140DB47}"/>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Limites et prochaines évolutions</a:t>
            </a:r>
          </a:p>
        </p:txBody>
      </p:sp>
      <p:sp>
        <p:nvSpPr>
          <p:cNvPr id="3" name="FitBot">
            <a:extLst xmlns:a="http://schemas.openxmlformats.org/drawingml/2006/main">
              <a:ext uri="{FF2B5EF4-FFF2-40B4-BE49-F238E27FC236}">
                <a16:creationId xmlns:a16="http://schemas.microsoft.com/office/drawing/2014/main" id="{046CC9EB-D1A8-45C6-B278-E5E932178C6D}"/>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20">
            <a:extLst xmlns:a="http://schemas.openxmlformats.org/drawingml/2006/main">
              <a:ext uri="{FF2B5EF4-FFF2-40B4-BE49-F238E27FC236}">
                <a16:creationId xmlns:a16="http://schemas.microsoft.com/office/drawing/2014/main" id="{A23EA623-FAE2-47D0-9DEF-9784CCC0B231}"/>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20</a:t>
            </a:r>
          </a:p>
        </p:txBody>
      </p:sp>
      <p:sp>
        <p:nvSpPr>
          <p:cNvPr id="5" name="La qualité dépend aussi des données et des do">
            <a:extLst xmlns:a="http://schemas.openxmlformats.org/drawingml/2006/main">
              <a:ext uri="{FF2B5EF4-FFF2-40B4-BE49-F238E27FC236}">
                <a16:creationId xmlns:a16="http://schemas.microsoft.com/office/drawing/2014/main" id="{B6650A49-88A3-44A1-928E-DC5F11DEB104}"/>
              </a:ext>
            </a:extLst>
          </p:cNvPr>
          <p:cNvSpPr>
            <a:spLocks xmlns:a="http://schemas.openxmlformats.org/drawingml/2006/main" noGrp="1"/>
          </p:cNvSpPr>
          <p:nvPr/>
        </p:nvSpPr>
        <p:spPr>
          <a:xfrm xmlns:a="http://schemas.openxmlformats.org/drawingml/2006/main">
            <a:off x="628650" y="1724025"/>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0">
                <a:solidFill>
                  <a:srgbClr val="70E4CE"/>
                </a:solidFill>
              </a:defRPr>
            </a:defPPr>
            <a:lvl1pPr>
              <a:defRPr sz="2775" b="0">
                <a:solidFill>
                  <a:srgbClr val="70E4CE"/>
                </a:solidFill>
              </a:defRPr>
            </a:lvl1pPr>
            <a:lvl2pPr>
              <a:defRPr sz="2775" b="0">
                <a:solidFill>
                  <a:srgbClr val="70E4CE"/>
                </a:solidFill>
              </a:defRPr>
            </a:lvl2pPr>
            <a:lvl3pPr>
              <a:defRPr sz="2775" b="0">
                <a:solidFill>
                  <a:srgbClr val="70E4CE"/>
                </a:solidFill>
              </a:defRPr>
            </a:lvl3pPr>
            <a:lvl4pPr>
              <a:defRPr sz="2775" b="0">
                <a:solidFill>
                  <a:srgbClr val="70E4CE"/>
                </a:solidFill>
              </a:defRPr>
            </a:lvl4pPr>
            <a:lvl5pPr>
              <a:defRPr sz="2775" b="0">
                <a:solidFill>
                  <a:srgbClr val="70E4CE"/>
                </a:solidFill>
              </a:defRPr>
            </a:lvl5pPr>
            <a:lvl6pPr>
              <a:defRPr sz="2775" b="0">
                <a:solidFill>
                  <a:srgbClr val="70E4CE"/>
                </a:solidFill>
              </a:defRPr>
            </a:lvl6pPr>
            <a:lvl7pPr>
              <a:defRPr sz="2775" b="0">
                <a:solidFill>
                  <a:srgbClr val="70E4CE"/>
                </a:solidFill>
              </a:defRPr>
            </a:lvl7pPr>
            <a:lvl8pPr>
              <a:defRPr sz="2775" b="0">
                <a:solidFill>
                  <a:srgbClr val="70E4CE"/>
                </a:solidFill>
              </a:defRPr>
            </a:lvl8pPr>
            <a:lvl9pPr>
              <a:defRPr sz="2775" b="0">
                <a:solidFill>
                  <a:srgbClr val="70E4CE"/>
                </a:solidFill>
              </a:defRPr>
            </a:lvl9pPr>
          </a:lstStyle>
          <a:p xmlns:a="http://schemas.openxmlformats.org/drawingml/2006/main">
            <a:pPr>
              <a:defRPr sz="2775" b="0">
                <a:solidFill>
                  <a:srgbClr val="70E4CE"/>
                </a:solidFill>
              </a:defRPr>
            </a:pPr>
            <a:r>
              <a:rPr sz="2775" b="0">
                <a:solidFill>
                  <a:srgbClr val="70E4CE"/>
                </a:solidFill>
              </a:rPr>
              <a:t>La qualité dépend aussi des données et des documents</a:t>
            </a:r>
          </a:p>
        </p:txBody>
      </p:sp>
      <p:sp>
        <p:nvSpPr>
          <p:cNvPr id="6" name="Limites actuelles">
            <a:extLst xmlns:a="http://schemas.openxmlformats.org/drawingml/2006/main">
              <a:ext uri="{FF2B5EF4-FFF2-40B4-BE49-F238E27FC236}">
                <a16:creationId xmlns:a16="http://schemas.microsoft.com/office/drawing/2014/main" id="{1E572A80-EAC0-46A5-B6D0-ED0330A8AF49}"/>
              </a:ext>
            </a:extLst>
          </p:cNvPr>
          <p:cNvSpPr>
            <a:spLocks xmlns:a="http://schemas.openxmlformats.org/drawingml/2006/main" noGrp="1"/>
          </p:cNvSpPr>
          <p:nvPr/>
        </p:nvSpPr>
        <p:spPr>
          <a:xfrm xmlns:a="http://schemas.openxmlformats.org/drawingml/2006/main">
            <a:off x="628650" y="31813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Limites actuelles</a:t>
            </a:r>
          </a:p>
        </p:txBody>
      </p:sp>
      <p:sp>
        <p:nvSpPr>
          <p:cNvPr id="7" name="Estimations visuelles, heuristiques morpholog">
            <a:extLst xmlns:a="http://schemas.openxmlformats.org/drawingml/2006/main">
              <a:ext uri="{FF2B5EF4-FFF2-40B4-BE49-F238E27FC236}">
                <a16:creationId xmlns:a16="http://schemas.microsoft.com/office/drawing/2014/main" id="{0EE01410-3AA5-4763-99B3-9B9E4D19CD26}"/>
              </a:ext>
            </a:extLst>
          </p:cNvPr>
          <p:cNvSpPr>
            <a:spLocks xmlns:a="http://schemas.openxmlformats.org/drawingml/2006/main" noGrp="1"/>
          </p:cNvSpPr>
          <p:nvPr/>
        </p:nvSpPr>
        <p:spPr>
          <a:xfrm xmlns:a="http://schemas.openxmlformats.org/drawingml/2006/main">
            <a:off x="628650" y="36385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Estimations visuelles, heuristiques morphologiques et corpus documentaire à auditer.</a:t>
            </a:r>
          </a:p>
        </p:txBody>
      </p:sp>
      <p:sp>
        <p:nvSpPr>
          <p:cNvPr id="8" name="Évolutions prioritaires">
            <a:extLst xmlns:a="http://schemas.openxmlformats.org/drawingml/2006/main">
              <a:ext uri="{FF2B5EF4-FFF2-40B4-BE49-F238E27FC236}">
                <a16:creationId xmlns:a16="http://schemas.microsoft.com/office/drawing/2014/main" id="{3E81FA6F-C1B8-455D-B28F-E7B9BD704C35}"/>
              </a:ext>
            </a:extLst>
          </p:cNvPr>
          <p:cNvSpPr>
            <a:spLocks xmlns:a="http://schemas.openxmlformats.org/drawingml/2006/main" noGrp="1"/>
          </p:cNvSpPr>
          <p:nvPr/>
        </p:nvSpPr>
        <p:spPr>
          <a:xfrm xmlns:a="http://schemas.openxmlformats.org/drawingml/2006/main">
            <a:off x="6305550" y="31813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70E4CE"/>
                </a:solidFill>
              </a:defRPr>
            </a:defPPr>
            <a:lvl1pPr>
              <a:defRPr sz="2025" b="1">
                <a:solidFill>
                  <a:srgbClr val="70E4CE"/>
                </a:solidFill>
              </a:defRPr>
            </a:lvl1pPr>
            <a:lvl2pPr>
              <a:defRPr sz="2025" b="1">
                <a:solidFill>
                  <a:srgbClr val="70E4CE"/>
                </a:solidFill>
              </a:defRPr>
            </a:lvl2pPr>
            <a:lvl3pPr>
              <a:defRPr sz="2025" b="1">
                <a:solidFill>
                  <a:srgbClr val="70E4CE"/>
                </a:solidFill>
              </a:defRPr>
            </a:lvl3pPr>
            <a:lvl4pPr>
              <a:defRPr sz="2025" b="1">
                <a:solidFill>
                  <a:srgbClr val="70E4CE"/>
                </a:solidFill>
              </a:defRPr>
            </a:lvl4pPr>
            <a:lvl5pPr>
              <a:defRPr sz="2025" b="1">
                <a:solidFill>
                  <a:srgbClr val="70E4CE"/>
                </a:solidFill>
              </a:defRPr>
            </a:lvl5pPr>
            <a:lvl6pPr>
              <a:defRPr sz="2025" b="1">
                <a:solidFill>
                  <a:srgbClr val="70E4CE"/>
                </a:solidFill>
              </a:defRPr>
            </a:lvl6pPr>
            <a:lvl7pPr>
              <a:defRPr sz="2025" b="1">
                <a:solidFill>
                  <a:srgbClr val="70E4CE"/>
                </a:solidFill>
              </a:defRPr>
            </a:lvl7pPr>
            <a:lvl8pPr>
              <a:defRPr sz="2025" b="1">
                <a:solidFill>
                  <a:srgbClr val="70E4CE"/>
                </a:solidFill>
              </a:defRPr>
            </a:lvl8pPr>
            <a:lvl9pPr>
              <a:defRPr sz="2025" b="1">
                <a:solidFill>
                  <a:srgbClr val="70E4CE"/>
                </a:solidFill>
              </a:defRPr>
            </a:lvl9pPr>
          </a:lstStyle>
          <a:p xmlns:a="http://schemas.openxmlformats.org/drawingml/2006/main">
            <a:pPr>
              <a:defRPr sz="2025" b="1">
                <a:solidFill>
                  <a:srgbClr val="70E4CE"/>
                </a:solidFill>
              </a:defRPr>
            </a:pPr>
            <a:r>
              <a:rPr sz="2025" b="1">
                <a:solidFill>
                  <a:srgbClr val="70E4CE"/>
                </a:solidFill>
              </a:rPr>
              <a:t>Évolutions prioritaires</a:t>
            </a:r>
          </a:p>
        </p:txBody>
      </p:sp>
      <p:sp>
        <p:nvSpPr>
          <p:cNvPr id="9" name="Mesurer la qualité des réponses, enrichir les">
            <a:extLst xmlns:a="http://schemas.openxmlformats.org/drawingml/2006/main">
              <a:ext uri="{FF2B5EF4-FFF2-40B4-BE49-F238E27FC236}">
                <a16:creationId xmlns:a16="http://schemas.microsoft.com/office/drawing/2014/main" id="{D7AE31D5-63AB-4096-B862-997E6061740D}"/>
              </a:ext>
            </a:extLst>
          </p:cNvPr>
          <p:cNvSpPr>
            <a:spLocks xmlns:a="http://schemas.openxmlformats.org/drawingml/2006/main" noGrp="1"/>
          </p:cNvSpPr>
          <p:nvPr/>
        </p:nvSpPr>
        <p:spPr>
          <a:xfrm xmlns:a="http://schemas.openxmlformats.org/drawingml/2006/main">
            <a:off x="6305550" y="3638550"/>
            <a:ext cx="5095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Mesurer la qualité des réponses, enrichir les sources et suivre les tokens et les coûts réels.</a:t>
            </a:r>
          </a:p>
        </p:txBody>
      </p:sp>
    </p:spTree>
    <p:extLst>
      <p:ext uri="{BB962C8B-B14F-4D97-AF65-F5344CB8AC3E}">
        <p14:creationId xmlns:p14="http://schemas.microsoft.com/office/powerpoint/2010/main" val="172499287"/>
      </p:ext>
    </p:extLst>
  </p:cSld>
</p:sld>
</file>

<file path=ppt/slides/slide21.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2" name="Démonstration du projet">
            <a:extLst xmlns:a="http://schemas.openxmlformats.org/drawingml/2006/main">
              <a:ext uri="{FF2B5EF4-FFF2-40B4-BE49-F238E27FC236}">
                <a16:creationId xmlns:a16="http://schemas.microsoft.com/office/drawing/2014/main" id="{AE1E6147-C241-4961-AD93-675221FDE373}"/>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7FAFC"/>
                </a:solidFill>
              </a:defRPr>
            </a:defPPr>
            <a:lvl1pPr>
              <a:defRPr sz="3300" b="1">
                <a:solidFill>
                  <a:srgbClr val="F7FAFC"/>
                </a:solidFill>
              </a:defRPr>
            </a:lvl1pPr>
            <a:lvl2pPr>
              <a:defRPr sz="3300" b="1">
                <a:solidFill>
                  <a:srgbClr val="F7FAFC"/>
                </a:solidFill>
              </a:defRPr>
            </a:lvl2pPr>
            <a:lvl3pPr>
              <a:defRPr sz="3300" b="1">
                <a:solidFill>
                  <a:srgbClr val="F7FAFC"/>
                </a:solidFill>
              </a:defRPr>
            </a:lvl3pPr>
            <a:lvl4pPr>
              <a:defRPr sz="3300" b="1">
                <a:solidFill>
                  <a:srgbClr val="F7FAFC"/>
                </a:solidFill>
              </a:defRPr>
            </a:lvl4pPr>
            <a:lvl5pPr>
              <a:defRPr sz="3300" b="1">
                <a:solidFill>
                  <a:srgbClr val="F7FAFC"/>
                </a:solidFill>
              </a:defRPr>
            </a:lvl5pPr>
            <a:lvl6pPr>
              <a:defRPr sz="3300" b="1">
                <a:solidFill>
                  <a:srgbClr val="F7FAFC"/>
                </a:solidFill>
              </a:defRPr>
            </a:lvl6pPr>
            <a:lvl7pPr>
              <a:defRPr sz="3300" b="1">
                <a:solidFill>
                  <a:srgbClr val="F7FAFC"/>
                </a:solidFill>
              </a:defRPr>
            </a:lvl7pPr>
            <a:lvl8pPr>
              <a:defRPr sz="3300" b="1">
                <a:solidFill>
                  <a:srgbClr val="F7FAFC"/>
                </a:solidFill>
              </a:defRPr>
            </a:lvl8pPr>
            <a:lvl9pPr>
              <a:defRPr sz="3300" b="1">
                <a:solidFill>
                  <a:srgbClr val="F7FAFC"/>
                </a:solidFill>
              </a:defRPr>
            </a:lvl9pPr>
          </a:lstStyle>
          <a:p xmlns:a="http://schemas.openxmlformats.org/drawingml/2006/main">
            <a:pPr>
              <a:defRPr sz="3300" b="1">
                <a:solidFill>
                  <a:srgbClr val="F7FAFC"/>
                </a:solidFill>
              </a:defRPr>
            </a:pPr>
            <a:r>
              <a:rPr sz="3300" b="1">
                <a:solidFill>
                  <a:srgbClr val="F7FAFC"/>
                </a:solidFill>
              </a:rPr>
              <a:t>Démonstration du projet</a:t>
            </a:r>
          </a:p>
        </p:txBody>
      </p:sp>
      <p:sp>
        <p:nvSpPr>
          <p:cNvPr id="3" name="FitBot">
            <a:extLst xmlns:a="http://schemas.openxmlformats.org/drawingml/2006/main">
              <a:ext uri="{FF2B5EF4-FFF2-40B4-BE49-F238E27FC236}">
                <a16:creationId xmlns:a16="http://schemas.microsoft.com/office/drawing/2014/main" id="{6A5D7047-B03A-4F1A-9BDD-C0E9D098344C}"/>
              </a:ext>
            </a:extLst>
          </p:cNvPr>
          <p:cNvSpPr>
            <a:spLocks xmlns:a="http://schemas.openxmlformats.org/drawingml/2006/main" noGrp="1"/>
          </p:cNvSpPr>
          <p:nvPr/>
        </p:nvSpPr>
        <p:spPr>
          <a:xfrm xmlns:a="http://schemas.openxmlformats.org/drawingml/2006/main">
            <a:off x="609600" y="64865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FitBot</a:t>
            </a:r>
          </a:p>
        </p:txBody>
      </p:sp>
      <p:sp>
        <p:nvSpPr>
          <p:cNvPr id="4" name="21">
            <a:extLst xmlns:a="http://schemas.openxmlformats.org/drawingml/2006/main">
              <a:ext uri="{FF2B5EF4-FFF2-40B4-BE49-F238E27FC236}">
                <a16:creationId xmlns:a16="http://schemas.microsoft.com/office/drawing/2014/main" id="{6348DAFE-DBC8-4393-BC78-D0DB861CAE16}"/>
              </a:ext>
            </a:extLst>
          </p:cNvPr>
          <p:cNvSpPr>
            <a:spLocks xmlns:a="http://schemas.openxmlformats.org/drawingml/2006/main" noGrp="1"/>
          </p:cNvSpPr>
          <p:nvPr/>
        </p:nvSpPr>
        <p:spPr>
          <a:xfrm xmlns:a="http://schemas.openxmlformats.org/drawingml/2006/main">
            <a:off x="11049000" y="64865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4C2D6"/>
                </a:solidFill>
              </a:defRPr>
            </a:defPPr>
            <a:lvl1pPr>
              <a:defRPr sz="1200" b="0">
                <a:solidFill>
                  <a:srgbClr val="B4C2D6"/>
                </a:solidFill>
              </a:defRPr>
            </a:lvl1pPr>
            <a:lvl2pPr>
              <a:defRPr sz="1200" b="0">
                <a:solidFill>
                  <a:srgbClr val="B4C2D6"/>
                </a:solidFill>
              </a:defRPr>
            </a:lvl2pPr>
            <a:lvl3pPr>
              <a:defRPr sz="1200" b="0">
                <a:solidFill>
                  <a:srgbClr val="B4C2D6"/>
                </a:solidFill>
              </a:defRPr>
            </a:lvl3pPr>
            <a:lvl4pPr>
              <a:defRPr sz="1200" b="0">
                <a:solidFill>
                  <a:srgbClr val="B4C2D6"/>
                </a:solidFill>
              </a:defRPr>
            </a:lvl4pPr>
            <a:lvl5pPr>
              <a:defRPr sz="1200" b="0">
                <a:solidFill>
                  <a:srgbClr val="B4C2D6"/>
                </a:solidFill>
              </a:defRPr>
            </a:lvl5pPr>
            <a:lvl6pPr>
              <a:defRPr sz="1200" b="0">
                <a:solidFill>
                  <a:srgbClr val="B4C2D6"/>
                </a:solidFill>
              </a:defRPr>
            </a:lvl6pPr>
            <a:lvl7pPr>
              <a:defRPr sz="1200" b="0">
                <a:solidFill>
                  <a:srgbClr val="B4C2D6"/>
                </a:solidFill>
              </a:defRPr>
            </a:lvl7pPr>
            <a:lvl8pPr>
              <a:defRPr sz="1200" b="0">
                <a:solidFill>
                  <a:srgbClr val="B4C2D6"/>
                </a:solidFill>
              </a:defRPr>
            </a:lvl8pPr>
            <a:lvl9pPr>
              <a:defRPr sz="1200" b="0">
                <a:solidFill>
                  <a:srgbClr val="B4C2D6"/>
                </a:solidFill>
              </a:defRPr>
            </a:lvl9pPr>
          </a:lstStyle>
          <a:p xmlns:a="http://schemas.openxmlformats.org/drawingml/2006/main">
            <a:pPr>
              <a:defRPr sz="1200" b="0">
                <a:solidFill>
                  <a:srgbClr val="B4C2D6"/>
                </a:solidFill>
              </a:defRPr>
            </a:pPr>
            <a:r>
              <a:rPr sz="1200" b="0">
                <a:solidFill>
                  <a:srgbClr val="B4C2D6"/>
                </a:solidFill>
              </a:rPr>
              <a:t>21</a:t>
            </a:r>
          </a:p>
        </p:txBody>
      </p:sp>
      <p:sp>
        <p:nvSpPr>
          <p:cNvPr id="5" name="1. Renseigner le profil">
            <a:extLst xmlns:a="http://schemas.openxmlformats.org/drawingml/2006/main">
              <a:ext uri="{FF2B5EF4-FFF2-40B4-BE49-F238E27FC236}">
                <a16:creationId xmlns:a16="http://schemas.microsoft.com/office/drawing/2014/main" id="{15405003-442B-4F9C-A452-66AFB80B56ED}"/>
              </a:ext>
            </a:extLst>
          </p:cNvPr>
          <p:cNvSpPr>
            <a:spLocks xmlns:a="http://schemas.openxmlformats.org/drawingml/2006/main" noGrp="1"/>
          </p:cNvSpPr>
          <p:nvPr/>
        </p:nvSpPr>
        <p:spPr>
          <a:xfrm xmlns:a="http://schemas.openxmlformats.org/drawingml/2006/main">
            <a:off x="628650" y="175260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70E4CE"/>
                </a:solidFill>
              </a:defRPr>
            </a:defPPr>
            <a:lvl1pPr>
              <a:defRPr sz="2100" b="1">
                <a:solidFill>
                  <a:srgbClr val="70E4CE"/>
                </a:solidFill>
              </a:defRPr>
            </a:lvl1pPr>
            <a:lvl2pPr>
              <a:defRPr sz="2100" b="1">
                <a:solidFill>
                  <a:srgbClr val="70E4CE"/>
                </a:solidFill>
              </a:defRPr>
            </a:lvl2pPr>
            <a:lvl3pPr>
              <a:defRPr sz="2100" b="1">
                <a:solidFill>
                  <a:srgbClr val="70E4CE"/>
                </a:solidFill>
              </a:defRPr>
            </a:lvl3pPr>
            <a:lvl4pPr>
              <a:defRPr sz="2100" b="1">
                <a:solidFill>
                  <a:srgbClr val="70E4CE"/>
                </a:solidFill>
              </a:defRPr>
            </a:lvl4pPr>
            <a:lvl5pPr>
              <a:defRPr sz="2100" b="1">
                <a:solidFill>
                  <a:srgbClr val="70E4CE"/>
                </a:solidFill>
              </a:defRPr>
            </a:lvl5pPr>
            <a:lvl6pPr>
              <a:defRPr sz="2100" b="1">
                <a:solidFill>
                  <a:srgbClr val="70E4CE"/>
                </a:solidFill>
              </a:defRPr>
            </a:lvl6pPr>
            <a:lvl7pPr>
              <a:defRPr sz="2100" b="1">
                <a:solidFill>
                  <a:srgbClr val="70E4CE"/>
                </a:solidFill>
              </a:defRPr>
            </a:lvl7pPr>
            <a:lvl8pPr>
              <a:defRPr sz="2100" b="1">
                <a:solidFill>
                  <a:srgbClr val="70E4CE"/>
                </a:solidFill>
              </a:defRPr>
            </a:lvl8pPr>
            <a:lvl9pPr>
              <a:defRPr sz="2100" b="1">
                <a:solidFill>
                  <a:srgbClr val="70E4CE"/>
                </a:solidFill>
              </a:defRPr>
            </a:lvl9pPr>
          </a:lstStyle>
          <a:p xmlns:a="http://schemas.openxmlformats.org/drawingml/2006/main">
            <a:pPr>
              <a:defRPr sz="2100" b="1">
                <a:solidFill>
                  <a:srgbClr val="70E4CE"/>
                </a:solidFill>
              </a:defRPr>
            </a:pPr>
            <a:r>
              <a:rPr sz="2100" b="1">
                <a:solidFill>
                  <a:srgbClr val="70E4CE"/>
                </a:solidFill>
              </a:rPr>
              <a:t>1. Renseigner le profil</a:t>
            </a:r>
          </a:p>
        </p:txBody>
      </p:sp>
      <p:sp>
        <p:nvSpPr>
          <p:cNvPr id="6" name="Observer les cibles quotidiennes et le bilan ">
            <a:extLst xmlns:a="http://schemas.openxmlformats.org/drawingml/2006/main">
              <a:ext uri="{FF2B5EF4-FFF2-40B4-BE49-F238E27FC236}">
                <a16:creationId xmlns:a16="http://schemas.microsoft.com/office/drawing/2014/main" id="{DD478C7B-972F-43DF-9E5C-1DA0103C9F5F}"/>
              </a:ext>
            </a:extLst>
          </p:cNvPr>
          <p:cNvSpPr>
            <a:spLocks xmlns:a="http://schemas.openxmlformats.org/drawingml/2006/main" noGrp="1"/>
          </p:cNvSpPr>
          <p:nvPr/>
        </p:nvSpPr>
        <p:spPr>
          <a:xfrm xmlns:a="http://schemas.openxmlformats.org/drawingml/2006/main">
            <a:off x="628650" y="2209800"/>
            <a:ext cx="723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Observer les cibles quotidiennes et le bilan personnalisé.</a:t>
            </a:r>
          </a:p>
        </p:txBody>
      </p:sp>
      <p:sp>
        <p:nvSpPr>
          <p:cNvPr id="7" name="2. Consulter le coach">
            <a:extLst xmlns:a="http://schemas.openxmlformats.org/drawingml/2006/main">
              <a:ext uri="{FF2B5EF4-FFF2-40B4-BE49-F238E27FC236}">
                <a16:creationId xmlns:a16="http://schemas.microsoft.com/office/drawing/2014/main" id="{639C06D8-6CA1-4FC9-8EEF-63B7F581F3BB}"/>
              </a:ext>
            </a:extLst>
          </p:cNvPr>
          <p:cNvSpPr>
            <a:spLocks xmlns:a="http://schemas.openxmlformats.org/drawingml/2006/main" noGrp="1"/>
          </p:cNvSpPr>
          <p:nvPr/>
        </p:nvSpPr>
        <p:spPr>
          <a:xfrm xmlns:a="http://schemas.openxmlformats.org/drawingml/2006/main">
            <a:off x="628650" y="3076575"/>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70E4CE"/>
                </a:solidFill>
              </a:defRPr>
            </a:defPPr>
            <a:lvl1pPr>
              <a:defRPr sz="2100" b="1">
                <a:solidFill>
                  <a:srgbClr val="70E4CE"/>
                </a:solidFill>
              </a:defRPr>
            </a:lvl1pPr>
            <a:lvl2pPr>
              <a:defRPr sz="2100" b="1">
                <a:solidFill>
                  <a:srgbClr val="70E4CE"/>
                </a:solidFill>
              </a:defRPr>
            </a:lvl2pPr>
            <a:lvl3pPr>
              <a:defRPr sz="2100" b="1">
                <a:solidFill>
                  <a:srgbClr val="70E4CE"/>
                </a:solidFill>
              </a:defRPr>
            </a:lvl3pPr>
            <a:lvl4pPr>
              <a:defRPr sz="2100" b="1">
                <a:solidFill>
                  <a:srgbClr val="70E4CE"/>
                </a:solidFill>
              </a:defRPr>
            </a:lvl4pPr>
            <a:lvl5pPr>
              <a:defRPr sz="2100" b="1">
                <a:solidFill>
                  <a:srgbClr val="70E4CE"/>
                </a:solidFill>
              </a:defRPr>
            </a:lvl5pPr>
            <a:lvl6pPr>
              <a:defRPr sz="2100" b="1">
                <a:solidFill>
                  <a:srgbClr val="70E4CE"/>
                </a:solidFill>
              </a:defRPr>
            </a:lvl6pPr>
            <a:lvl7pPr>
              <a:defRPr sz="2100" b="1">
                <a:solidFill>
                  <a:srgbClr val="70E4CE"/>
                </a:solidFill>
              </a:defRPr>
            </a:lvl7pPr>
            <a:lvl8pPr>
              <a:defRPr sz="2100" b="1">
                <a:solidFill>
                  <a:srgbClr val="70E4CE"/>
                </a:solidFill>
              </a:defRPr>
            </a:lvl8pPr>
            <a:lvl9pPr>
              <a:defRPr sz="2100" b="1">
                <a:solidFill>
                  <a:srgbClr val="70E4CE"/>
                </a:solidFill>
              </a:defRPr>
            </a:lvl9pPr>
          </a:lstStyle>
          <a:p xmlns:a="http://schemas.openxmlformats.org/drawingml/2006/main">
            <a:pPr>
              <a:defRPr sz="2100" b="1">
                <a:solidFill>
                  <a:srgbClr val="70E4CE"/>
                </a:solidFill>
              </a:defRPr>
            </a:pPr>
            <a:r>
              <a:rPr sz="2100" b="1">
                <a:solidFill>
                  <a:srgbClr val="70E4CE"/>
                </a:solidFill>
              </a:rPr>
              <a:t>2. Consulter le coach</a:t>
            </a:r>
          </a:p>
        </p:txBody>
      </p:sp>
      <p:sp>
        <p:nvSpPr>
          <p:cNvPr id="8" name="Poser une question puis ouvrir les sources de">
            <a:extLst xmlns:a="http://schemas.openxmlformats.org/drawingml/2006/main">
              <a:ext uri="{FF2B5EF4-FFF2-40B4-BE49-F238E27FC236}">
                <a16:creationId xmlns:a16="http://schemas.microsoft.com/office/drawing/2014/main" id="{F112CEA9-3DE1-41E4-ACF4-98C6F02DA0B1}"/>
              </a:ext>
            </a:extLst>
          </p:cNvPr>
          <p:cNvSpPr>
            <a:spLocks xmlns:a="http://schemas.openxmlformats.org/drawingml/2006/main" noGrp="1"/>
          </p:cNvSpPr>
          <p:nvPr/>
        </p:nvSpPr>
        <p:spPr>
          <a:xfrm xmlns:a="http://schemas.openxmlformats.org/drawingml/2006/main">
            <a:off x="628650" y="3533775"/>
            <a:ext cx="723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Poser une question puis ouvrir les sources de sa réponse.</a:t>
            </a:r>
          </a:p>
        </p:txBody>
      </p:sp>
      <p:sp>
        <p:nvSpPr>
          <p:cNvPr id="9" name="3. Enregistrer un repas et une séance">
            <a:extLst xmlns:a="http://schemas.openxmlformats.org/drawingml/2006/main">
              <a:ext uri="{FF2B5EF4-FFF2-40B4-BE49-F238E27FC236}">
                <a16:creationId xmlns:a16="http://schemas.microsoft.com/office/drawing/2014/main" id="{42F2B495-E979-493B-8DAB-1DBB8470B20B}"/>
              </a:ext>
            </a:extLst>
          </p:cNvPr>
          <p:cNvSpPr>
            <a:spLocks xmlns:a="http://schemas.openxmlformats.org/drawingml/2006/main" noGrp="1"/>
          </p:cNvSpPr>
          <p:nvPr/>
        </p:nvSpPr>
        <p:spPr>
          <a:xfrm xmlns:a="http://schemas.openxmlformats.org/drawingml/2006/main">
            <a:off x="628650" y="440055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70E4CE"/>
                </a:solidFill>
              </a:defRPr>
            </a:defPPr>
            <a:lvl1pPr>
              <a:defRPr sz="2100" b="1">
                <a:solidFill>
                  <a:srgbClr val="70E4CE"/>
                </a:solidFill>
              </a:defRPr>
            </a:lvl1pPr>
            <a:lvl2pPr>
              <a:defRPr sz="2100" b="1">
                <a:solidFill>
                  <a:srgbClr val="70E4CE"/>
                </a:solidFill>
              </a:defRPr>
            </a:lvl2pPr>
            <a:lvl3pPr>
              <a:defRPr sz="2100" b="1">
                <a:solidFill>
                  <a:srgbClr val="70E4CE"/>
                </a:solidFill>
              </a:defRPr>
            </a:lvl3pPr>
            <a:lvl4pPr>
              <a:defRPr sz="2100" b="1">
                <a:solidFill>
                  <a:srgbClr val="70E4CE"/>
                </a:solidFill>
              </a:defRPr>
            </a:lvl4pPr>
            <a:lvl5pPr>
              <a:defRPr sz="2100" b="1">
                <a:solidFill>
                  <a:srgbClr val="70E4CE"/>
                </a:solidFill>
              </a:defRPr>
            </a:lvl5pPr>
            <a:lvl6pPr>
              <a:defRPr sz="2100" b="1">
                <a:solidFill>
                  <a:srgbClr val="70E4CE"/>
                </a:solidFill>
              </a:defRPr>
            </a:lvl6pPr>
            <a:lvl7pPr>
              <a:defRPr sz="2100" b="1">
                <a:solidFill>
                  <a:srgbClr val="70E4CE"/>
                </a:solidFill>
              </a:defRPr>
            </a:lvl7pPr>
            <a:lvl8pPr>
              <a:defRPr sz="2100" b="1">
                <a:solidFill>
                  <a:srgbClr val="70E4CE"/>
                </a:solidFill>
              </a:defRPr>
            </a:lvl8pPr>
            <a:lvl9pPr>
              <a:defRPr sz="2100" b="1">
                <a:solidFill>
                  <a:srgbClr val="70E4CE"/>
                </a:solidFill>
              </a:defRPr>
            </a:lvl9pPr>
          </a:lstStyle>
          <a:p xmlns:a="http://schemas.openxmlformats.org/drawingml/2006/main">
            <a:pPr>
              <a:defRPr sz="2100" b="1">
                <a:solidFill>
                  <a:srgbClr val="70E4CE"/>
                </a:solidFill>
              </a:defRPr>
            </a:pPr>
            <a:r>
              <a:rPr sz="2100" b="1">
                <a:solidFill>
                  <a:srgbClr val="70E4CE"/>
                </a:solidFill>
              </a:rPr>
              <a:t>3. Enregistrer un repas et une séance</a:t>
            </a:r>
          </a:p>
        </p:txBody>
      </p:sp>
      <p:sp>
        <p:nvSpPr>
          <p:cNvPr id="10" name="Vérifier la persistance du suivi et les recom">
            <a:extLst xmlns:a="http://schemas.openxmlformats.org/drawingml/2006/main">
              <a:ext uri="{FF2B5EF4-FFF2-40B4-BE49-F238E27FC236}">
                <a16:creationId xmlns:a16="http://schemas.microsoft.com/office/drawing/2014/main" id="{A531DB01-0B85-4890-99C9-11B69B9A0384}"/>
              </a:ext>
            </a:extLst>
          </p:cNvPr>
          <p:cNvSpPr>
            <a:spLocks xmlns:a="http://schemas.openxmlformats.org/drawingml/2006/main" noGrp="1"/>
          </p:cNvSpPr>
          <p:nvPr/>
        </p:nvSpPr>
        <p:spPr>
          <a:xfrm xmlns:a="http://schemas.openxmlformats.org/drawingml/2006/main">
            <a:off x="628650" y="4857750"/>
            <a:ext cx="723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4C2D6"/>
                </a:solidFill>
              </a:defRPr>
            </a:defPPr>
            <a:lvl1pPr>
              <a:defRPr sz="1875" b="0">
                <a:solidFill>
                  <a:srgbClr val="B4C2D6"/>
                </a:solidFill>
              </a:defRPr>
            </a:lvl1pPr>
            <a:lvl2pPr>
              <a:defRPr sz="1875" b="0">
                <a:solidFill>
                  <a:srgbClr val="B4C2D6"/>
                </a:solidFill>
              </a:defRPr>
            </a:lvl2pPr>
            <a:lvl3pPr>
              <a:defRPr sz="1875" b="0">
                <a:solidFill>
                  <a:srgbClr val="B4C2D6"/>
                </a:solidFill>
              </a:defRPr>
            </a:lvl3pPr>
            <a:lvl4pPr>
              <a:defRPr sz="1875" b="0">
                <a:solidFill>
                  <a:srgbClr val="B4C2D6"/>
                </a:solidFill>
              </a:defRPr>
            </a:lvl4pPr>
            <a:lvl5pPr>
              <a:defRPr sz="1875" b="0">
                <a:solidFill>
                  <a:srgbClr val="B4C2D6"/>
                </a:solidFill>
              </a:defRPr>
            </a:lvl5pPr>
            <a:lvl6pPr>
              <a:defRPr sz="1875" b="0">
                <a:solidFill>
                  <a:srgbClr val="B4C2D6"/>
                </a:solidFill>
              </a:defRPr>
            </a:lvl6pPr>
            <a:lvl7pPr>
              <a:defRPr sz="1875" b="0">
                <a:solidFill>
                  <a:srgbClr val="B4C2D6"/>
                </a:solidFill>
              </a:defRPr>
            </a:lvl7pPr>
            <a:lvl8pPr>
              <a:defRPr sz="1875" b="0">
                <a:solidFill>
                  <a:srgbClr val="B4C2D6"/>
                </a:solidFill>
              </a:defRPr>
            </a:lvl8pPr>
            <a:lvl9pPr>
              <a:defRPr sz="1875" b="0">
                <a:solidFill>
                  <a:srgbClr val="B4C2D6"/>
                </a:solidFill>
              </a:defRPr>
            </a:lvl9pPr>
          </a:lstStyle>
          <a:p xmlns:a="http://schemas.openxmlformats.org/drawingml/2006/main">
            <a:pPr>
              <a:defRPr sz="1875" b="0">
                <a:solidFill>
                  <a:srgbClr val="B4C2D6"/>
                </a:solidFill>
              </a:defRPr>
            </a:pPr>
            <a:r>
              <a:rPr sz="1875" b="0">
                <a:solidFill>
                  <a:srgbClr val="B4C2D6"/>
                </a:solidFill>
              </a:rPr>
              <a:t>Vérifier la persistance du suivi et les recommandations.</a:t>
            </a:r>
          </a:p>
        </p:txBody>
      </p:sp>
      <p:pic>
        <p:nvPicPr>
          <p:cNvPr id="11" name="">
            <a:extLst xmlns:a="http://schemas.openxmlformats.org/drawingml/2006/main">
              <a:ext uri="{FF2B5EF4-FFF2-40B4-BE49-F238E27FC236}">
                <a16:creationId xmlns:a16="http://schemas.microsoft.com/office/drawing/2014/main" id="{E62C26D6-84EC-4EF4-BF40-B16A88B34E4F}"/>
              </a:ext>
            </a:extLst>
          </p:cNvPr>
          <p:cNvPicPr>
            <a:picLocks xmlns:a="http://schemas.openxmlformats.org/drawingml/2006/main" noChangeAspect="1"/>
          </p:cNvPicPr>
          <p:nvPr/>
        </p:nvPicPr>
        <p:blipFill>
          <a:blip xmlns:r="http://schemas.openxmlformats.org/officeDocument/2006/relationships" xmlns:a="http://schemas.openxmlformats.org/drawingml/2006/main" r:embed="Ra612e483d3d544ec"/>
          <a:stretch xmlns:a="http://schemas.openxmlformats.org/drawingml/2006/main"/>
        </p:blipFill>
        <p:spPr>
          <a:xfrm xmlns:a="http://schemas.openxmlformats.org/drawingml/2006/main">
            <a:off x="9051831" y="1562100"/>
            <a:ext cx="2222688" cy="4810125"/>
          </a:xfrm>
          <a:prstGeom xmlns:a="http://schemas.openxmlformats.org/drawingml/2006/main" prst="rect">
            <a:avLst/>
          </a:prstGeom>
        </p:spPr>
      </p:pic>
      <p:sp>
        <p:nvSpPr>
          <p:cNvPr id="12" name="github.com/nessimbns2/FitBot">
            <a:extLst xmlns:a="http://schemas.openxmlformats.org/drawingml/2006/main">
              <a:ext uri="{FF2B5EF4-FFF2-40B4-BE49-F238E27FC236}">
                <a16:creationId xmlns:a16="http://schemas.microsoft.com/office/drawing/2014/main" id="{D8A0C44A-F43C-49EE-BB03-D9797BC5D389}"/>
              </a:ext>
            </a:extLst>
          </p:cNvPr>
          <p:cNvSpPr>
            <a:spLocks xmlns:a="http://schemas.openxmlformats.org/drawingml/2006/main" noGrp="1"/>
          </p:cNvSpPr>
          <p:nvPr/>
        </p:nvSpPr>
        <p:spPr>
          <a:xfrm xmlns:a="http://schemas.openxmlformats.org/drawingml/2006/main">
            <a:off x="628650" y="60769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29AFF"/>
                </a:solidFill>
              </a:defRPr>
            </a:defPPr>
            <a:lvl1pPr>
              <a:defRPr sz="1725" b="0">
                <a:solidFill>
                  <a:srgbClr val="B29AFF"/>
                </a:solidFill>
              </a:defRPr>
            </a:lvl1pPr>
            <a:lvl2pPr>
              <a:defRPr sz="1725" b="0">
                <a:solidFill>
                  <a:srgbClr val="B29AFF"/>
                </a:solidFill>
              </a:defRPr>
            </a:lvl2pPr>
            <a:lvl3pPr>
              <a:defRPr sz="1725" b="0">
                <a:solidFill>
                  <a:srgbClr val="B29AFF"/>
                </a:solidFill>
              </a:defRPr>
            </a:lvl3pPr>
            <a:lvl4pPr>
              <a:defRPr sz="1725" b="0">
                <a:solidFill>
                  <a:srgbClr val="B29AFF"/>
                </a:solidFill>
              </a:defRPr>
            </a:lvl4pPr>
            <a:lvl5pPr>
              <a:defRPr sz="1725" b="0">
                <a:solidFill>
                  <a:srgbClr val="B29AFF"/>
                </a:solidFill>
              </a:defRPr>
            </a:lvl5pPr>
            <a:lvl6pPr>
              <a:defRPr sz="1725" b="0">
                <a:solidFill>
                  <a:srgbClr val="B29AFF"/>
                </a:solidFill>
              </a:defRPr>
            </a:lvl6pPr>
            <a:lvl7pPr>
              <a:defRPr sz="1725" b="0">
                <a:solidFill>
                  <a:srgbClr val="B29AFF"/>
                </a:solidFill>
              </a:defRPr>
            </a:lvl7pPr>
            <a:lvl8pPr>
              <a:defRPr sz="1725" b="0">
                <a:solidFill>
                  <a:srgbClr val="B29AFF"/>
                </a:solidFill>
              </a:defRPr>
            </a:lvl8pPr>
            <a:lvl9pPr>
              <a:defRPr sz="1725" b="0">
                <a:solidFill>
                  <a:srgbClr val="B29AFF"/>
                </a:solidFill>
              </a:defRPr>
            </a:lvl9pPr>
          </a:lstStyle>
          <a:p xmlns:a="http://schemas.openxmlformats.org/drawingml/2006/main">
            <a:pPr>
              <a:defRPr sz="1725" b="0">
                <a:solidFill>
                  <a:srgbClr val="B29AFF"/>
                </a:solidFill>
              </a:defRPr>
            </a:pPr>
            <a:r>
              <a:rPr sz="1725" b="0">
                <a:solidFill>
                  <a:srgbClr val="B29AFF"/>
                </a:solidFill>
              </a:rPr>
              <a:t>github.com/nessimbns2/FitBot</a:t>
            </a:r>
          </a:p>
        </p:txBody>
      </p:sp>
    </p:spTree>
    <p:extLst>
      <p:ext uri="{BB962C8B-B14F-4D97-AF65-F5344CB8AC3E}">
        <p14:creationId xmlns:p14="http://schemas.microsoft.com/office/powerpoint/2010/main" val="788892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2026-10-26T10:29:56.9530000Z</dcterms:created>
  <dcterms:modified xsi:type="dcterms:W3CDTF">2026-10-26T10:29:56.9530000Z</dcterms:modified>
</coreProperties>
</file>